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75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0" i="0">
                <a:solidFill>
                  <a:srgbClr val="3333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rgbClr val="33333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rgbClr val="3333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33333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rgbClr val="3333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rgbClr val="3333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59599" y="3272"/>
            <a:ext cx="12968801" cy="17814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0" i="0">
                <a:solidFill>
                  <a:srgbClr val="33333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7456" y="1913109"/>
            <a:ext cx="15392400" cy="4558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rgbClr val="33333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690975" y="7587614"/>
            <a:ext cx="14148435" cy="1212704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-105410" algn="ctr">
              <a:lnSpc>
                <a:spcPct val="112400"/>
              </a:lnSpc>
              <a:spcBef>
                <a:spcPts val="35"/>
              </a:spcBef>
            </a:pPr>
            <a:r>
              <a:rPr sz="2400" b="1" dirty="0">
                <a:solidFill>
                  <a:srgbClr val="333333"/>
                </a:solidFill>
                <a:latin typeface="Trebuchet MS"/>
                <a:cs typeface="Trebuchet MS"/>
              </a:rPr>
              <a:t>Aditya</a:t>
            </a:r>
            <a:r>
              <a:rPr sz="2400" b="1" spc="-6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rebuchet MS"/>
                <a:cs typeface="Trebuchet MS"/>
              </a:rPr>
              <a:t>Pratap</a:t>
            </a:r>
            <a:r>
              <a:rPr sz="2400" b="1" spc="-6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rebuchet MS"/>
                <a:cs typeface="Trebuchet MS"/>
              </a:rPr>
              <a:t>Singh,</a:t>
            </a:r>
            <a:r>
              <a:rPr lang="en-US" sz="2400" b="1" dirty="0">
                <a:solidFill>
                  <a:srgbClr val="333333"/>
                </a:solidFill>
                <a:latin typeface="Trebuchet MS"/>
                <a:cs typeface="Trebuchet MS"/>
              </a:rPr>
              <a:t> Sagar Solanki,</a:t>
            </a:r>
            <a:r>
              <a:rPr sz="2400" b="1" spc="-6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333333"/>
                </a:solidFill>
                <a:latin typeface="Trebuchet MS"/>
                <a:cs typeface="Trebuchet MS"/>
              </a:rPr>
              <a:t>Shirine</a:t>
            </a:r>
            <a:r>
              <a:rPr sz="2400" b="1" spc="-6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rebuchet MS"/>
                <a:cs typeface="Trebuchet MS"/>
              </a:rPr>
              <a:t>Sharma,</a:t>
            </a:r>
            <a:r>
              <a:rPr lang="en-US" sz="2400" b="1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Trebuchet MS"/>
                <a:cs typeface="Trebuchet MS"/>
              </a:rPr>
              <a:t>Praduman</a:t>
            </a:r>
            <a:r>
              <a:rPr sz="2400" b="1" spc="-6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00" b="1" spc="-30" dirty="0">
                <a:solidFill>
                  <a:srgbClr val="333333"/>
                </a:solidFill>
                <a:latin typeface="Trebuchet MS"/>
                <a:cs typeface="Trebuchet MS"/>
              </a:rPr>
              <a:t>Prajapati</a:t>
            </a:r>
            <a:endParaRPr lang="en-US" sz="2400" b="1" spc="-30" dirty="0">
              <a:solidFill>
                <a:srgbClr val="333333"/>
              </a:solidFill>
              <a:latin typeface="Trebuchet MS"/>
              <a:cs typeface="Trebuchet MS"/>
            </a:endParaRPr>
          </a:p>
          <a:p>
            <a:pPr marL="12700" marR="5080" indent="-105410" algn="ctr">
              <a:lnSpc>
                <a:spcPct val="112400"/>
              </a:lnSpc>
              <a:spcBef>
                <a:spcPts val="35"/>
              </a:spcBef>
            </a:pPr>
            <a:r>
              <a:rPr lang="en-US" sz="2400" b="1" spc="-30" dirty="0">
                <a:solidFill>
                  <a:srgbClr val="333333"/>
                </a:solidFill>
                <a:latin typeface="Trebuchet MS"/>
                <a:cs typeface="Trebuchet MS"/>
              </a:rPr>
              <a:t>M</a:t>
            </a:r>
            <a:r>
              <a:rPr lang="en-IN" sz="2400" b="1" spc="-30" dirty="0" err="1">
                <a:solidFill>
                  <a:srgbClr val="333333"/>
                </a:solidFill>
                <a:latin typeface="Trebuchet MS"/>
                <a:cs typeface="Trebuchet MS"/>
              </a:rPr>
              <a:t>entor</a:t>
            </a:r>
            <a:r>
              <a:rPr lang="en-IN" sz="2400" b="1" spc="-30" dirty="0">
                <a:solidFill>
                  <a:srgbClr val="333333"/>
                </a:solidFill>
                <a:latin typeface="Trebuchet MS"/>
                <a:cs typeface="Trebuchet MS"/>
              </a:rPr>
              <a:t>: Ms. Ruchika Mavis Daniel</a:t>
            </a:r>
            <a:endParaRPr lang="en-US" sz="2400" b="1" spc="-30" dirty="0">
              <a:solidFill>
                <a:srgbClr val="333333"/>
              </a:solidFill>
              <a:latin typeface="Trebuchet MS"/>
              <a:cs typeface="Trebuchet MS"/>
            </a:endParaRPr>
          </a:p>
          <a:p>
            <a:pPr marL="12700" marR="5080" indent="-105410" algn="ctr">
              <a:lnSpc>
                <a:spcPct val="112400"/>
              </a:lnSpc>
              <a:spcBef>
                <a:spcPts val="35"/>
              </a:spcBef>
            </a:pPr>
            <a:r>
              <a:rPr lang="en-US" sz="2400" b="1" spc="-1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333333"/>
                </a:solidFill>
                <a:latin typeface="Trebuchet MS"/>
                <a:cs typeface="Trebuchet MS"/>
              </a:rPr>
              <a:t>Department</a:t>
            </a:r>
            <a:r>
              <a:rPr sz="2400" b="1" spc="-9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rebuchet MS"/>
                <a:cs typeface="Trebuchet MS"/>
              </a:rPr>
              <a:t>of</a:t>
            </a:r>
            <a:r>
              <a:rPr sz="2400" b="1" spc="-9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rebuchet MS"/>
                <a:cs typeface="Trebuchet MS"/>
              </a:rPr>
              <a:t>Computer</a:t>
            </a:r>
            <a:r>
              <a:rPr sz="2400" b="1" spc="-9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00" b="1" spc="45" dirty="0">
                <a:solidFill>
                  <a:srgbClr val="333333"/>
                </a:solidFill>
                <a:latin typeface="Trebuchet MS"/>
                <a:cs typeface="Trebuchet MS"/>
              </a:rPr>
              <a:t>Science</a:t>
            </a:r>
            <a:r>
              <a:rPr sz="2400" b="1" spc="-9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00" b="1" spc="60" dirty="0">
                <a:solidFill>
                  <a:srgbClr val="333333"/>
                </a:solidFill>
                <a:latin typeface="Trebuchet MS"/>
                <a:cs typeface="Trebuchet MS"/>
              </a:rPr>
              <a:t>and</a:t>
            </a:r>
            <a:r>
              <a:rPr sz="2400" b="1" spc="-9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00" b="1" spc="-50" dirty="0">
                <a:solidFill>
                  <a:srgbClr val="333333"/>
                </a:solidFill>
                <a:latin typeface="Trebuchet MS"/>
                <a:cs typeface="Trebuchet MS"/>
              </a:rPr>
              <a:t>Engineering</a:t>
            </a:r>
            <a:r>
              <a:rPr lang="en-US" sz="2400" b="1" spc="-50" dirty="0">
                <a:solidFill>
                  <a:srgbClr val="333333"/>
                </a:solidFill>
                <a:latin typeface="Trebuchet MS"/>
                <a:cs typeface="Trebuchet MS"/>
              </a:rPr>
              <a:t>(AI&amp;ML)</a:t>
            </a:r>
            <a:r>
              <a:rPr sz="2400" b="1" spc="-50" dirty="0">
                <a:solidFill>
                  <a:srgbClr val="333333"/>
                </a:solidFill>
                <a:latin typeface="Trebuchet MS"/>
                <a:cs typeface="Trebuchet MS"/>
              </a:rPr>
              <a:t>,</a:t>
            </a:r>
            <a:r>
              <a:rPr lang="en-US" sz="2400" b="1" spc="-5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00" b="1" spc="-50" dirty="0">
                <a:solidFill>
                  <a:srgbClr val="333333"/>
                </a:solidFill>
                <a:latin typeface="Trebuchet MS"/>
                <a:cs typeface="Trebuchet MS"/>
              </a:rPr>
              <a:t>KIET</a:t>
            </a:r>
            <a:r>
              <a:rPr sz="2400" b="1" spc="-9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rebuchet MS"/>
                <a:cs typeface="Trebuchet MS"/>
              </a:rPr>
              <a:t>Group</a:t>
            </a:r>
            <a:r>
              <a:rPr sz="2400" b="1" spc="-9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33333"/>
                </a:solidFill>
                <a:latin typeface="Trebuchet MS"/>
                <a:cs typeface="Trebuchet MS"/>
              </a:rPr>
              <a:t>of</a:t>
            </a:r>
            <a:r>
              <a:rPr sz="2400" b="1" spc="-9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00" b="1" spc="-55" dirty="0">
                <a:solidFill>
                  <a:srgbClr val="333333"/>
                </a:solidFill>
                <a:latin typeface="Trebuchet MS"/>
                <a:cs typeface="Trebuchet MS"/>
              </a:rPr>
              <a:t>Institutions,</a:t>
            </a:r>
            <a:r>
              <a:rPr sz="2400" b="1" spc="-9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333333"/>
                </a:solidFill>
                <a:latin typeface="Trebuchet MS"/>
                <a:cs typeface="Trebuchet MS"/>
              </a:rPr>
              <a:t>Ghaziabad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805F13D-41F2-42E9-9F13-946B6E92C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1866900"/>
            <a:ext cx="14539625" cy="6401753"/>
          </a:xfrm>
        </p:spPr>
        <p:txBody>
          <a:bodyPr/>
          <a:lstStyle/>
          <a:p>
            <a:r>
              <a:rPr lang="en-US" sz="3600" b="1" spc="195" dirty="0"/>
              <a:t>Study</a:t>
            </a:r>
            <a:r>
              <a:rPr lang="en-US" sz="3600" b="1" spc="25" dirty="0"/>
              <a:t> </a:t>
            </a:r>
            <a:r>
              <a:rPr lang="en-US" sz="3600" b="1" spc="170" dirty="0"/>
              <a:t>Notion:</a:t>
            </a:r>
            <a:r>
              <a:rPr lang="en-US" sz="3600" b="1" spc="25" dirty="0"/>
              <a:t> </a:t>
            </a:r>
            <a:r>
              <a:rPr lang="en-US" sz="3600" b="1" dirty="0"/>
              <a:t>A</a:t>
            </a:r>
            <a:r>
              <a:rPr lang="en-US" sz="3600" b="1" spc="25" dirty="0"/>
              <a:t> </a:t>
            </a:r>
            <a:r>
              <a:rPr lang="en-US" sz="3600" b="1" spc="150" dirty="0"/>
              <a:t>Comprehensive</a:t>
            </a:r>
            <a:r>
              <a:rPr lang="en-US" sz="3600" b="1" spc="25" dirty="0"/>
              <a:t> </a:t>
            </a:r>
            <a:r>
              <a:rPr lang="en-US" sz="3600" b="1" spc="85" dirty="0"/>
              <a:t>MERN</a:t>
            </a:r>
            <a:r>
              <a:rPr lang="en-US" sz="3600" b="1" spc="25" dirty="0"/>
              <a:t> </a:t>
            </a:r>
            <a:r>
              <a:rPr lang="en-US" sz="3600" b="1" spc="130" dirty="0"/>
              <a:t>Stack-</a:t>
            </a:r>
            <a:r>
              <a:rPr lang="en-US" sz="3600" b="1" spc="140" dirty="0"/>
              <a:t>Based</a:t>
            </a:r>
            <a:r>
              <a:rPr lang="en-US" sz="3600" b="1" spc="30" dirty="0"/>
              <a:t> </a:t>
            </a:r>
            <a:r>
              <a:rPr lang="en-US" sz="3600" b="1" dirty="0"/>
              <a:t>EdTech</a:t>
            </a:r>
            <a:r>
              <a:rPr lang="en-US" sz="3600" b="1" spc="25" dirty="0"/>
              <a:t> </a:t>
            </a:r>
            <a:r>
              <a:rPr lang="en-US" sz="3600" b="1" spc="220" dirty="0"/>
              <a:t>Platform</a:t>
            </a:r>
            <a:r>
              <a:rPr lang="en-US" sz="3600" b="1" spc="25" dirty="0"/>
              <a:t> </a:t>
            </a:r>
            <a:r>
              <a:rPr lang="en-US" sz="3600" b="1" spc="200" dirty="0"/>
              <a:t>for</a:t>
            </a:r>
            <a:r>
              <a:rPr lang="en-US" sz="3600" b="1" spc="25" dirty="0"/>
              <a:t> </a:t>
            </a:r>
            <a:r>
              <a:rPr lang="en-US" sz="3600" b="1" spc="185" dirty="0"/>
              <a:t>Modern</a:t>
            </a:r>
            <a:r>
              <a:rPr lang="en-US" sz="3600" b="1" spc="25" dirty="0"/>
              <a:t> </a:t>
            </a:r>
            <a:r>
              <a:rPr lang="en-US" sz="3600" b="1" spc="170" dirty="0"/>
              <a:t>Online</a:t>
            </a:r>
            <a:r>
              <a:rPr lang="en-US" sz="3600" b="1" spc="25" dirty="0"/>
              <a:t> </a:t>
            </a:r>
            <a:r>
              <a:rPr lang="en-US" sz="3600" b="1" spc="180" dirty="0"/>
              <a:t>Education</a:t>
            </a:r>
            <a:br>
              <a:rPr lang="en-US" sz="3600" spc="180" dirty="0"/>
            </a:br>
            <a:br>
              <a:rPr lang="en-US" sz="3600" spc="180" dirty="0"/>
            </a:br>
            <a:br>
              <a:rPr lang="en-US" sz="3600" spc="180" dirty="0"/>
            </a:br>
            <a:r>
              <a:rPr lang="en-US" sz="3200" spc="180" dirty="0"/>
              <a:t>SDG:</a:t>
            </a:r>
            <a:br>
              <a:rPr lang="en-US" sz="3200" spc="180" dirty="0"/>
            </a:br>
            <a:r>
              <a:rPr lang="en-US" sz="3200" spc="180" dirty="0"/>
              <a:t>Quality Education </a:t>
            </a:r>
            <a:br>
              <a:rPr lang="en-US" sz="3200" spc="180" dirty="0"/>
            </a:br>
            <a:r>
              <a:rPr lang="en-US" sz="3200" spc="180" dirty="0"/>
              <a:t>Industry, Innovation &amp; Infrastructure </a:t>
            </a:r>
            <a:br>
              <a:rPr lang="en-US" sz="3600" spc="180" dirty="0"/>
            </a:br>
            <a:br>
              <a:rPr lang="en-US" sz="3600" spc="180" dirty="0"/>
            </a:br>
            <a:r>
              <a:rPr lang="en-US" sz="3200" spc="180" dirty="0"/>
              <a:t>Project Outcome: Research Paper</a:t>
            </a:r>
            <a:br>
              <a:rPr lang="en-US" sz="3600" spc="180" dirty="0"/>
            </a:br>
            <a:br>
              <a:rPr lang="en-US" sz="3600" spc="180" dirty="0"/>
            </a:br>
            <a:br>
              <a:rPr lang="en-US" sz="3600" dirty="0"/>
            </a:br>
            <a:endParaRPr lang="en-IN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00115" y="1261994"/>
            <a:ext cx="6087745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40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5876" y="3820550"/>
            <a:ext cx="133350" cy="133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2473" y="4721289"/>
            <a:ext cx="133350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2473" y="6611253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2473" y="5664539"/>
            <a:ext cx="133350" cy="1333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42581" y="3589919"/>
            <a:ext cx="4882419" cy="338534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00" b="1" spc="-10" dirty="0">
                <a:solidFill>
                  <a:srgbClr val="333333"/>
                </a:solidFill>
                <a:latin typeface="Trebuchet MS"/>
                <a:cs typeface="Trebuchet MS"/>
              </a:rPr>
              <a:t>Introduction</a:t>
            </a:r>
            <a:endParaRPr sz="3200" dirty="0">
              <a:latin typeface="Trebuchet MS"/>
              <a:cs typeface="Trebuchet MS"/>
            </a:endParaRPr>
          </a:p>
          <a:p>
            <a:pPr marL="12700" marR="5080">
              <a:lnSpc>
                <a:spcPct val="198100"/>
              </a:lnSpc>
              <a:spcBef>
                <a:spcPts val="770"/>
              </a:spcBef>
            </a:pPr>
            <a:r>
              <a:rPr sz="3200" b="1" spc="-10" dirty="0">
                <a:solidFill>
                  <a:srgbClr val="333333"/>
                </a:solidFill>
                <a:latin typeface="Trebuchet MS"/>
                <a:cs typeface="Trebuchet MS"/>
              </a:rPr>
              <a:t>Related</a:t>
            </a:r>
            <a:r>
              <a:rPr sz="3200" b="1" spc="-17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3200" b="1" spc="-20" dirty="0">
                <a:solidFill>
                  <a:srgbClr val="333333"/>
                </a:solidFill>
                <a:latin typeface="Trebuchet MS"/>
                <a:cs typeface="Trebuchet MS"/>
              </a:rPr>
              <a:t>Works</a:t>
            </a:r>
            <a:r>
              <a:rPr sz="3200" b="1" spc="80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3200" b="1" spc="-45" dirty="0">
                <a:solidFill>
                  <a:srgbClr val="333333"/>
                </a:solidFill>
                <a:latin typeface="Trebuchet MS"/>
                <a:cs typeface="Trebuchet MS"/>
              </a:rPr>
              <a:t>Problem</a:t>
            </a:r>
            <a:r>
              <a:rPr sz="3200" b="1" spc="-19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3200" b="1" spc="-10" dirty="0">
                <a:solidFill>
                  <a:srgbClr val="333333"/>
                </a:solidFill>
                <a:latin typeface="Trebuchet MS"/>
                <a:cs typeface="Trebuchet MS"/>
              </a:rPr>
              <a:t>Definition </a:t>
            </a:r>
            <a:r>
              <a:rPr sz="3200" b="1" dirty="0">
                <a:solidFill>
                  <a:srgbClr val="333333"/>
                </a:solidFill>
                <a:latin typeface="Trebuchet MS"/>
                <a:cs typeface="Trebuchet MS"/>
              </a:rPr>
              <a:t>Proposed</a:t>
            </a:r>
            <a:r>
              <a:rPr sz="3200" b="1" spc="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3200" b="1" spc="35" dirty="0">
                <a:solidFill>
                  <a:srgbClr val="333333"/>
                </a:solidFill>
                <a:latin typeface="Trebuchet MS"/>
                <a:cs typeface="Trebuchet MS"/>
              </a:rPr>
              <a:t>Methodology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9943" y="3820551"/>
            <a:ext cx="133350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9943" y="4715762"/>
            <a:ext cx="133350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53341" y="5662231"/>
            <a:ext cx="133350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9943" y="6841919"/>
            <a:ext cx="133350" cy="1333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090051" y="3589919"/>
            <a:ext cx="4084954" cy="357060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00" b="1" dirty="0">
                <a:solidFill>
                  <a:srgbClr val="333333"/>
                </a:solidFill>
                <a:latin typeface="Trebuchet MS"/>
                <a:cs typeface="Trebuchet MS"/>
              </a:rPr>
              <a:t>Results</a:t>
            </a:r>
            <a:r>
              <a:rPr sz="3200" b="1" spc="-229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3200" b="1" spc="-114" dirty="0">
                <a:solidFill>
                  <a:srgbClr val="333333"/>
                </a:solidFill>
                <a:latin typeface="Trebuchet MS"/>
                <a:cs typeface="Trebuchet MS"/>
              </a:rPr>
              <a:t>&amp;</a:t>
            </a:r>
            <a:r>
              <a:rPr sz="3200" b="1" spc="-16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3200" b="1" spc="55" dirty="0">
                <a:solidFill>
                  <a:srgbClr val="333333"/>
                </a:solidFill>
                <a:latin typeface="Trebuchet MS"/>
                <a:cs typeface="Trebuchet MS"/>
              </a:rPr>
              <a:t>Discussions</a:t>
            </a:r>
            <a:endParaRPr sz="3200" dirty="0">
              <a:latin typeface="Trebuchet MS"/>
              <a:cs typeface="Trebuchet MS"/>
            </a:endParaRPr>
          </a:p>
          <a:p>
            <a:pPr marL="12700" marR="1564640">
              <a:lnSpc>
                <a:spcPct val="191200"/>
              </a:lnSpc>
              <a:spcBef>
                <a:spcPts val="1015"/>
              </a:spcBef>
            </a:pPr>
            <a:r>
              <a:rPr sz="3200" b="1" spc="-10" dirty="0">
                <a:solidFill>
                  <a:srgbClr val="333333"/>
                </a:solidFill>
                <a:latin typeface="Trebuchet MS"/>
                <a:cs typeface="Trebuchet MS"/>
              </a:rPr>
              <a:t>Conclusion </a:t>
            </a:r>
            <a:r>
              <a:rPr sz="3200" b="1" spc="-135" dirty="0">
                <a:solidFill>
                  <a:srgbClr val="333333"/>
                </a:solidFill>
                <a:latin typeface="Trebuchet MS"/>
                <a:cs typeface="Trebuchet MS"/>
              </a:rPr>
              <a:t>Future</a:t>
            </a:r>
            <a:r>
              <a:rPr sz="3200" b="1" spc="-114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3200" b="1" spc="100" dirty="0">
                <a:solidFill>
                  <a:srgbClr val="333333"/>
                </a:solidFill>
                <a:latin typeface="Trebuchet MS"/>
                <a:cs typeface="Trebuchet MS"/>
              </a:rPr>
              <a:t>Scope</a:t>
            </a:r>
            <a:endParaRPr lang="en-IN" sz="3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lang="en-IN" sz="3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333333"/>
                </a:solidFill>
                <a:latin typeface="Trebuchet MS"/>
                <a:cs typeface="Trebuchet MS"/>
              </a:rPr>
              <a:t>Reference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6678" rIns="0" bIns="0" rtlCol="0">
            <a:spAutoFit/>
          </a:bodyPr>
          <a:lstStyle/>
          <a:p>
            <a:pPr marL="1278890">
              <a:lnSpc>
                <a:spcPct val="100000"/>
              </a:lnSpc>
              <a:spcBef>
                <a:spcPts val="100"/>
              </a:spcBef>
            </a:pPr>
            <a:r>
              <a:rPr spc="815" dirty="0"/>
              <a:t>Introduction</a:t>
            </a: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3166" y="2208792"/>
            <a:ext cx="125336" cy="12533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3166" y="3336816"/>
            <a:ext cx="125336" cy="12533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3166" y="4464841"/>
            <a:ext cx="125336" cy="12533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3166" y="5592866"/>
            <a:ext cx="125336" cy="12533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3166" y="6720891"/>
            <a:ext cx="125336" cy="12533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960869" y="1890396"/>
            <a:ext cx="15069819" cy="5666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553845">
              <a:lnSpc>
                <a:spcPct val="117500"/>
              </a:lnSpc>
              <a:spcBef>
                <a:spcPts val="90"/>
              </a:spcBef>
            </a:pP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3150" spc="-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75" dirty="0">
                <a:solidFill>
                  <a:srgbClr val="333333"/>
                </a:solidFill>
                <a:latin typeface="Times New Roman"/>
                <a:cs typeface="Times New Roman"/>
              </a:rPr>
              <a:t>rapid</a:t>
            </a:r>
            <a:r>
              <a:rPr sz="3150" spc="-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50" dirty="0">
                <a:solidFill>
                  <a:srgbClr val="333333"/>
                </a:solidFill>
                <a:latin typeface="Times New Roman"/>
                <a:cs typeface="Times New Roman"/>
              </a:rPr>
              <a:t>growth</a:t>
            </a:r>
            <a:r>
              <a:rPr sz="3150" spc="-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-3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3150" spc="-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online</a:t>
            </a:r>
            <a:r>
              <a:rPr sz="3150" spc="-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50" dirty="0">
                <a:solidFill>
                  <a:srgbClr val="333333"/>
                </a:solidFill>
                <a:latin typeface="Times New Roman"/>
                <a:cs typeface="Times New Roman"/>
              </a:rPr>
              <a:t>education</a:t>
            </a:r>
            <a:r>
              <a:rPr sz="3150" spc="-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50" dirty="0">
                <a:solidFill>
                  <a:srgbClr val="333333"/>
                </a:solidFill>
                <a:latin typeface="Times New Roman"/>
                <a:cs typeface="Times New Roman"/>
              </a:rPr>
              <a:t>platforms</a:t>
            </a:r>
            <a:r>
              <a:rPr sz="3150" spc="-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85" dirty="0">
                <a:solidFill>
                  <a:srgbClr val="333333"/>
                </a:solidFill>
                <a:latin typeface="Times New Roman"/>
                <a:cs typeface="Times New Roman"/>
              </a:rPr>
              <a:t>has</a:t>
            </a:r>
            <a:r>
              <a:rPr sz="3150" spc="-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75" dirty="0">
                <a:solidFill>
                  <a:srgbClr val="333333"/>
                </a:solidFill>
                <a:latin typeface="Times New Roman"/>
                <a:cs typeface="Times New Roman"/>
              </a:rPr>
              <a:t>transformed</a:t>
            </a:r>
            <a:r>
              <a:rPr sz="3150" spc="-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80" dirty="0">
                <a:solidFill>
                  <a:srgbClr val="333333"/>
                </a:solidFill>
                <a:latin typeface="Times New Roman"/>
                <a:cs typeface="Times New Roman"/>
              </a:rPr>
              <a:t>modern</a:t>
            </a:r>
            <a:r>
              <a:rPr sz="3150" spc="-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50" dirty="0">
                <a:solidFill>
                  <a:srgbClr val="333333"/>
                </a:solidFill>
                <a:latin typeface="Times New Roman"/>
                <a:cs typeface="Times New Roman"/>
              </a:rPr>
              <a:t>learning </a:t>
            </a:r>
            <a:r>
              <a:rPr sz="3150" spc="40" dirty="0">
                <a:solidFill>
                  <a:srgbClr val="333333"/>
                </a:solidFill>
                <a:latin typeface="Times New Roman"/>
                <a:cs typeface="Times New Roman"/>
              </a:rPr>
              <a:t>environments.</a:t>
            </a:r>
            <a:endParaRPr sz="3150">
              <a:latin typeface="Times New Roman"/>
              <a:cs typeface="Times New Roman"/>
            </a:endParaRPr>
          </a:p>
          <a:p>
            <a:pPr marL="12700" marR="5080">
              <a:lnSpc>
                <a:spcPct val="117500"/>
              </a:lnSpc>
            </a:pP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Educational</a:t>
            </a:r>
            <a:r>
              <a:rPr sz="315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75" dirty="0">
                <a:solidFill>
                  <a:srgbClr val="333333"/>
                </a:solidFill>
                <a:latin typeface="Times New Roman"/>
                <a:cs typeface="Times New Roman"/>
              </a:rPr>
              <a:t>institutions</a:t>
            </a:r>
            <a:r>
              <a:rPr sz="315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75" dirty="0">
                <a:solidFill>
                  <a:srgbClr val="333333"/>
                </a:solidFill>
                <a:latin typeface="Times New Roman"/>
                <a:cs typeface="Times New Roman"/>
              </a:rPr>
              <a:t>require</a:t>
            </a:r>
            <a:r>
              <a:rPr sz="315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scalable,</a:t>
            </a:r>
            <a:r>
              <a:rPr sz="315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secure,</a:t>
            </a:r>
            <a:r>
              <a:rPr sz="315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105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315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50" dirty="0">
                <a:solidFill>
                  <a:srgbClr val="333333"/>
                </a:solidFill>
                <a:latin typeface="Times New Roman"/>
                <a:cs typeface="Times New Roman"/>
              </a:rPr>
              <a:t>interactive</a:t>
            </a:r>
            <a:r>
              <a:rPr sz="315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digital</a:t>
            </a:r>
            <a:r>
              <a:rPr sz="315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50" dirty="0">
                <a:solidFill>
                  <a:srgbClr val="333333"/>
                </a:solidFill>
                <a:latin typeface="Times New Roman"/>
                <a:cs typeface="Times New Roman"/>
              </a:rPr>
              <a:t>platforms</a:t>
            </a:r>
            <a:r>
              <a:rPr sz="315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315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-10" dirty="0">
                <a:solidFill>
                  <a:srgbClr val="333333"/>
                </a:solidFill>
                <a:latin typeface="Times New Roman"/>
                <a:cs typeface="Times New Roman"/>
              </a:rPr>
              <a:t>deliver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course</a:t>
            </a:r>
            <a:r>
              <a:rPr sz="3150" spc="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75" dirty="0">
                <a:solidFill>
                  <a:srgbClr val="333333"/>
                </a:solidFill>
                <a:latin typeface="Times New Roman"/>
                <a:cs typeface="Times New Roman"/>
              </a:rPr>
              <a:t>content</a:t>
            </a:r>
            <a:r>
              <a:rPr sz="3150" spc="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-10" dirty="0">
                <a:solidFill>
                  <a:srgbClr val="333333"/>
                </a:solidFill>
                <a:latin typeface="Times New Roman"/>
                <a:cs typeface="Times New Roman"/>
              </a:rPr>
              <a:t>efficiently.</a:t>
            </a:r>
            <a:endParaRPr sz="3150">
              <a:latin typeface="Times New Roman"/>
              <a:cs typeface="Times New Roman"/>
            </a:endParaRPr>
          </a:p>
          <a:p>
            <a:pPr marL="12700" marR="103505">
              <a:lnSpc>
                <a:spcPct val="117500"/>
              </a:lnSpc>
            </a:pPr>
            <a:r>
              <a:rPr sz="3150" spc="50" dirty="0">
                <a:solidFill>
                  <a:srgbClr val="333333"/>
                </a:solidFill>
                <a:latin typeface="Times New Roman"/>
                <a:cs typeface="Times New Roman"/>
              </a:rPr>
              <a:t>Many</a:t>
            </a:r>
            <a:r>
              <a:rPr sz="315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110" dirty="0">
                <a:solidFill>
                  <a:srgbClr val="333333"/>
                </a:solidFill>
                <a:latin typeface="Times New Roman"/>
                <a:cs typeface="Times New Roman"/>
              </a:rPr>
              <a:t>current</a:t>
            </a:r>
            <a:r>
              <a:rPr sz="315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50" dirty="0">
                <a:solidFill>
                  <a:srgbClr val="333333"/>
                </a:solidFill>
                <a:latin typeface="Times New Roman"/>
                <a:cs typeface="Times New Roman"/>
              </a:rPr>
              <a:t>platforms</a:t>
            </a:r>
            <a:r>
              <a:rPr sz="315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suffer</a:t>
            </a:r>
            <a:r>
              <a:rPr sz="315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from</a:t>
            </a:r>
            <a:r>
              <a:rPr sz="315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limited</a:t>
            </a:r>
            <a:r>
              <a:rPr sz="315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customization,</a:t>
            </a:r>
            <a:r>
              <a:rPr sz="315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poor</a:t>
            </a:r>
            <a:r>
              <a:rPr sz="315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analytics,</a:t>
            </a:r>
            <a:r>
              <a:rPr sz="315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105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315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45" dirty="0">
                <a:solidFill>
                  <a:srgbClr val="333333"/>
                </a:solidFill>
                <a:latin typeface="Times New Roman"/>
                <a:cs typeface="Times New Roman"/>
              </a:rPr>
              <a:t>fragmented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system</a:t>
            </a:r>
            <a:r>
              <a:rPr sz="315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50" dirty="0">
                <a:solidFill>
                  <a:srgbClr val="333333"/>
                </a:solidFill>
                <a:latin typeface="Times New Roman"/>
                <a:cs typeface="Times New Roman"/>
              </a:rPr>
              <a:t>architecture.</a:t>
            </a:r>
            <a:endParaRPr sz="3150">
              <a:latin typeface="Times New Roman"/>
              <a:cs typeface="Times New Roman"/>
            </a:endParaRPr>
          </a:p>
          <a:p>
            <a:pPr marL="12700" marR="76835">
              <a:lnSpc>
                <a:spcPct val="117500"/>
              </a:lnSpc>
            </a:pPr>
            <a:r>
              <a:rPr sz="3150" spc="60" dirty="0">
                <a:solidFill>
                  <a:srgbClr val="333333"/>
                </a:solidFill>
                <a:latin typeface="Times New Roman"/>
                <a:cs typeface="Times New Roman"/>
              </a:rPr>
              <a:t>Modern</a:t>
            </a:r>
            <a:r>
              <a:rPr sz="3150" spc="-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web</a:t>
            </a:r>
            <a:r>
              <a:rPr sz="3150" spc="-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technologies</a:t>
            </a:r>
            <a:r>
              <a:rPr sz="3150" spc="-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60" dirty="0">
                <a:solidFill>
                  <a:srgbClr val="333333"/>
                </a:solidFill>
                <a:latin typeface="Times New Roman"/>
                <a:cs typeface="Times New Roman"/>
              </a:rPr>
              <a:t>such</a:t>
            </a:r>
            <a:r>
              <a:rPr sz="3150" spc="-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as</a:t>
            </a:r>
            <a:r>
              <a:rPr sz="3150" spc="-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105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3150" spc="-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-125" dirty="0">
                <a:solidFill>
                  <a:srgbClr val="333333"/>
                </a:solidFill>
                <a:latin typeface="Times New Roman"/>
                <a:cs typeface="Times New Roman"/>
              </a:rPr>
              <a:t>MERN</a:t>
            </a:r>
            <a:r>
              <a:rPr sz="3150" spc="-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Stack</a:t>
            </a:r>
            <a:r>
              <a:rPr sz="3150" spc="-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-70" dirty="0">
                <a:solidFill>
                  <a:srgbClr val="333333"/>
                </a:solidFill>
                <a:latin typeface="Times New Roman"/>
                <a:cs typeface="Times New Roman"/>
              </a:rPr>
              <a:t>(MongoDB,</a:t>
            </a:r>
            <a:r>
              <a:rPr sz="3150" spc="-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-30" dirty="0">
                <a:solidFill>
                  <a:srgbClr val="333333"/>
                </a:solidFill>
                <a:latin typeface="Times New Roman"/>
                <a:cs typeface="Times New Roman"/>
              </a:rPr>
              <a:t>Express.js,</a:t>
            </a:r>
            <a:r>
              <a:rPr sz="3150" spc="-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-35" dirty="0">
                <a:solidFill>
                  <a:srgbClr val="333333"/>
                </a:solidFill>
                <a:latin typeface="Times New Roman"/>
                <a:cs typeface="Times New Roman"/>
              </a:rPr>
              <a:t>React.js,</a:t>
            </a:r>
            <a:r>
              <a:rPr sz="3150" spc="-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-10" dirty="0">
                <a:solidFill>
                  <a:srgbClr val="333333"/>
                </a:solidFill>
                <a:latin typeface="Times New Roman"/>
                <a:cs typeface="Times New Roman"/>
              </a:rPr>
              <a:t>Node.js)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enable</a:t>
            </a:r>
            <a:r>
              <a:rPr sz="315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105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315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development</a:t>
            </a:r>
            <a:r>
              <a:rPr sz="3150" spc="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-3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315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highly</a:t>
            </a:r>
            <a:r>
              <a:rPr sz="315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scalable</a:t>
            </a:r>
            <a:r>
              <a:rPr sz="315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105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315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responsive</a:t>
            </a:r>
            <a:r>
              <a:rPr sz="315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-10" dirty="0">
                <a:solidFill>
                  <a:srgbClr val="333333"/>
                </a:solidFill>
                <a:latin typeface="Times New Roman"/>
                <a:cs typeface="Times New Roman"/>
              </a:rPr>
              <a:t>applications.</a:t>
            </a:r>
            <a:endParaRPr sz="3150">
              <a:latin typeface="Times New Roman"/>
              <a:cs typeface="Times New Roman"/>
            </a:endParaRPr>
          </a:p>
          <a:p>
            <a:pPr marL="12700" marR="179705">
              <a:lnSpc>
                <a:spcPct val="117500"/>
              </a:lnSpc>
            </a:pP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This</a:t>
            </a:r>
            <a:r>
              <a:rPr sz="315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70" dirty="0">
                <a:solidFill>
                  <a:srgbClr val="333333"/>
                </a:solidFill>
                <a:latin typeface="Times New Roman"/>
                <a:cs typeface="Times New Roman"/>
              </a:rPr>
              <a:t>research</a:t>
            </a:r>
            <a:r>
              <a:rPr sz="315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70" dirty="0">
                <a:solidFill>
                  <a:srgbClr val="333333"/>
                </a:solidFill>
                <a:latin typeface="Times New Roman"/>
                <a:cs typeface="Times New Roman"/>
              </a:rPr>
              <a:t>presents</a:t>
            </a:r>
            <a:r>
              <a:rPr sz="315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Study</a:t>
            </a:r>
            <a:r>
              <a:rPr sz="315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Notion,</a:t>
            </a:r>
            <a:r>
              <a:rPr sz="315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8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315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-110" dirty="0">
                <a:solidFill>
                  <a:srgbClr val="333333"/>
                </a:solidFill>
                <a:latin typeface="Times New Roman"/>
                <a:cs typeface="Times New Roman"/>
              </a:rPr>
              <a:t>MERN-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based</a:t>
            </a:r>
            <a:r>
              <a:rPr sz="315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-30" dirty="0">
                <a:solidFill>
                  <a:srgbClr val="333333"/>
                </a:solidFill>
                <a:latin typeface="Times New Roman"/>
                <a:cs typeface="Times New Roman"/>
              </a:rPr>
              <a:t>EdTech</a:t>
            </a:r>
            <a:r>
              <a:rPr sz="315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55" dirty="0">
                <a:solidFill>
                  <a:srgbClr val="333333"/>
                </a:solidFill>
                <a:latin typeface="Times New Roman"/>
                <a:cs typeface="Times New Roman"/>
              </a:rPr>
              <a:t>platform</a:t>
            </a:r>
            <a:r>
              <a:rPr sz="315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designed</a:t>
            </a:r>
            <a:r>
              <a:rPr sz="315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3150" spc="-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-10" dirty="0">
                <a:solidFill>
                  <a:srgbClr val="333333"/>
                </a:solidFill>
                <a:latin typeface="Times New Roman"/>
                <a:cs typeface="Times New Roman"/>
              </a:rPr>
              <a:t>improve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course</a:t>
            </a:r>
            <a:r>
              <a:rPr sz="315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55" dirty="0">
                <a:solidFill>
                  <a:srgbClr val="333333"/>
                </a:solidFill>
                <a:latin typeface="Times New Roman"/>
                <a:cs typeface="Times New Roman"/>
              </a:rPr>
              <a:t>management,</a:t>
            </a:r>
            <a:r>
              <a:rPr sz="315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60" dirty="0">
                <a:solidFill>
                  <a:srgbClr val="333333"/>
                </a:solidFill>
                <a:latin typeface="Times New Roman"/>
                <a:cs typeface="Times New Roman"/>
              </a:rPr>
              <a:t>learning</a:t>
            </a:r>
            <a:r>
              <a:rPr sz="315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accessibility,</a:t>
            </a:r>
            <a:r>
              <a:rPr sz="315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105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315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dirty="0">
                <a:solidFill>
                  <a:srgbClr val="333333"/>
                </a:solidFill>
                <a:latin typeface="Times New Roman"/>
                <a:cs typeface="Times New Roman"/>
              </a:rPr>
              <a:t>system</a:t>
            </a:r>
            <a:r>
              <a:rPr sz="315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150" spc="-10" dirty="0">
                <a:solidFill>
                  <a:srgbClr val="333333"/>
                </a:solidFill>
                <a:latin typeface="Times New Roman"/>
                <a:cs typeface="Times New Roman"/>
              </a:rPr>
              <a:t>scalability.</a:t>
            </a:r>
            <a:endParaRPr sz="3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6621" y="1893856"/>
            <a:ext cx="121558" cy="1215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6621" y="3043140"/>
            <a:ext cx="121558" cy="1215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6621" y="4192423"/>
            <a:ext cx="121558" cy="1215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6621" y="5341707"/>
            <a:ext cx="121558" cy="12155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16621" y="6490991"/>
            <a:ext cx="121558" cy="12155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29402" y="1576883"/>
            <a:ext cx="14655800" cy="577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999"/>
              </a:lnSpc>
              <a:spcBef>
                <a:spcPts val="100"/>
              </a:spcBef>
              <a:tabLst>
                <a:tab pos="1626235" algn="l"/>
                <a:tab pos="3002915" algn="l"/>
                <a:tab pos="4728210" algn="l"/>
                <a:tab pos="6680834" algn="l"/>
                <a:tab pos="7780655" algn="l"/>
                <a:tab pos="8446770" algn="l"/>
                <a:tab pos="10343515" algn="l"/>
                <a:tab pos="11952605" algn="l"/>
                <a:tab pos="12901930" algn="l"/>
                <a:tab pos="13844269" algn="l"/>
              </a:tabLst>
            </a:pP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Various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online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40" dirty="0">
                <a:solidFill>
                  <a:srgbClr val="333333"/>
                </a:solidFill>
                <a:latin typeface="Times New Roman"/>
                <a:cs typeface="Times New Roman"/>
              </a:rPr>
              <a:t>learning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platforms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35" dirty="0">
                <a:solidFill>
                  <a:srgbClr val="333333"/>
                </a:solidFill>
                <a:latin typeface="Times New Roman"/>
                <a:cs typeface="Times New Roman"/>
              </a:rPr>
              <a:t>such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25" dirty="0">
                <a:solidFill>
                  <a:srgbClr val="333333"/>
                </a:solidFill>
                <a:latin typeface="Times New Roman"/>
                <a:cs typeface="Times New Roman"/>
              </a:rPr>
              <a:t>as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Coursera,</a:t>
            </a:r>
            <a:r>
              <a:rPr sz="3250" b="1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Udemy,</a:t>
            </a:r>
            <a:r>
              <a:rPr sz="3250" b="1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b="1" spc="75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3250" b="1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b="1" spc="-25" dirty="0">
                <a:solidFill>
                  <a:srgbClr val="333333"/>
                </a:solidFill>
                <a:latin typeface="Times New Roman"/>
                <a:cs typeface="Times New Roman"/>
              </a:rPr>
              <a:t>edX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20" dirty="0">
                <a:solidFill>
                  <a:srgbClr val="333333"/>
                </a:solidFill>
                <a:latin typeface="Times New Roman"/>
                <a:cs typeface="Times New Roman"/>
              </a:rPr>
              <a:t>have </a:t>
            </a:r>
            <a:r>
              <a:rPr sz="3250" spc="65" dirty="0">
                <a:solidFill>
                  <a:srgbClr val="333333"/>
                </a:solidFill>
                <a:latin typeface="Times New Roman"/>
                <a:cs typeface="Times New Roman"/>
              </a:rPr>
              <a:t>demonstrated</a:t>
            </a:r>
            <a:r>
              <a:rPr sz="3250" spc="-9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95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3250" spc="-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50" dirty="0">
                <a:solidFill>
                  <a:srgbClr val="333333"/>
                </a:solidFill>
                <a:latin typeface="Times New Roman"/>
                <a:cs typeface="Times New Roman"/>
              </a:rPr>
              <a:t>potential</a:t>
            </a:r>
            <a:r>
              <a:rPr sz="3250" spc="-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6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3250" spc="-9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digital</a:t>
            </a:r>
            <a:r>
              <a:rPr sz="3250" spc="-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45" dirty="0">
                <a:solidFill>
                  <a:srgbClr val="333333"/>
                </a:solidFill>
                <a:latin typeface="Times New Roman"/>
                <a:cs typeface="Times New Roman"/>
              </a:rPr>
              <a:t>education</a:t>
            </a:r>
            <a:r>
              <a:rPr sz="3250" spc="-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systems.</a:t>
            </a:r>
            <a:endParaRPr sz="3250" dirty="0">
              <a:latin typeface="Times New Roman"/>
              <a:cs typeface="Times New Roman"/>
            </a:endParaRPr>
          </a:p>
          <a:p>
            <a:pPr marL="12700" marR="5080">
              <a:lnSpc>
                <a:spcPct val="115999"/>
              </a:lnSpc>
              <a:tabLst>
                <a:tab pos="1625600" algn="l"/>
                <a:tab pos="2974340" algn="l"/>
                <a:tab pos="3928110" algn="l"/>
                <a:tab pos="5548630" algn="l"/>
                <a:tab pos="7499350" algn="l"/>
                <a:tab pos="9069705" algn="l"/>
                <a:tab pos="11431270" algn="l"/>
                <a:tab pos="12921615" algn="l"/>
                <a:tab pos="14152244" algn="l"/>
              </a:tabLst>
            </a:pP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Previous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studies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20" dirty="0">
                <a:solidFill>
                  <a:srgbClr val="333333"/>
                </a:solidFill>
                <a:latin typeface="Times New Roman"/>
                <a:cs typeface="Times New Roman"/>
              </a:rPr>
              <a:t>have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explored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web-based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b="1" spc="40" dirty="0">
                <a:solidFill>
                  <a:srgbClr val="333333"/>
                </a:solidFill>
                <a:latin typeface="Times New Roman"/>
                <a:cs typeface="Times New Roman"/>
              </a:rPr>
              <a:t>learning</a:t>
            </a:r>
            <a:r>
              <a:rPr sz="3250" b="1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b="1" spc="55" dirty="0">
                <a:solidFill>
                  <a:srgbClr val="333333"/>
                </a:solidFill>
                <a:latin typeface="Times New Roman"/>
                <a:cs typeface="Times New Roman"/>
              </a:rPr>
              <a:t>management</a:t>
            </a:r>
            <a:r>
              <a:rPr sz="3250" b="1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systems</a:t>
            </a:r>
            <a:r>
              <a:rPr sz="3250" b="1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b="1" spc="-20" dirty="0">
                <a:solidFill>
                  <a:srgbClr val="333333"/>
                </a:solidFill>
                <a:latin typeface="Times New Roman"/>
                <a:cs typeface="Times New Roman"/>
              </a:rPr>
              <a:t>(LMS)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25" dirty="0">
                <a:solidFill>
                  <a:srgbClr val="333333"/>
                </a:solidFill>
                <a:latin typeface="Times New Roman"/>
                <a:cs typeface="Times New Roman"/>
              </a:rPr>
              <a:t>for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delivering</a:t>
            </a:r>
            <a:r>
              <a:rPr sz="3250" spc="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educational</a:t>
            </a:r>
            <a:r>
              <a:rPr sz="3250" spc="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65" dirty="0">
                <a:solidFill>
                  <a:srgbClr val="333333"/>
                </a:solidFill>
                <a:latin typeface="Times New Roman"/>
                <a:cs typeface="Times New Roman"/>
              </a:rPr>
              <a:t>content</a:t>
            </a:r>
            <a:r>
              <a:rPr sz="3250" spc="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online.</a:t>
            </a:r>
            <a:endParaRPr sz="3250" dirty="0">
              <a:latin typeface="Times New Roman"/>
              <a:cs typeface="Times New Roman"/>
            </a:endParaRPr>
          </a:p>
          <a:p>
            <a:pPr marL="12700" marR="5080">
              <a:lnSpc>
                <a:spcPct val="115999"/>
              </a:lnSpc>
              <a:tabLst>
                <a:tab pos="2173605" algn="l"/>
                <a:tab pos="3196590" algn="l"/>
                <a:tab pos="5101590" algn="l"/>
                <a:tab pos="6238240" algn="l"/>
                <a:tab pos="7157084" algn="l"/>
                <a:tab pos="7848600" algn="l"/>
                <a:tab pos="9950450" algn="l"/>
                <a:tab pos="12527915" algn="l"/>
                <a:tab pos="13832840" algn="l"/>
              </a:tabLst>
            </a:pP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Traditional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280" dirty="0">
                <a:solidFill>
                  <a:srgbClr val="333333"/>
                </a:solidFill>
                <a:latin typeface="Times New Roman"/>
                <a:cs typeface="Times New Roman"/>
              </a:rPr>
              <a:t>LMS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platforms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often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20" dirty="0">
                <a:solidFill>
                  <a:srgbClr val="333333"/>
                </a:solidFill>
                <a:latin typeface="Times New Roman"/>
                <a:cs typeface="Times New Roman"/>
              </a:rPr>
              <a:t>rely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25" dirty="0">
                <a:solidFill>
                  <a:srgbClr val="333333"/>
                </a:solidFill>
                <a:latin typeface="Times New Roman"/>
                <a:cs typeface="Times New Roman"/>
              </a:rPr>
              <a:t>on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monolithic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35" dirty="0">
                <a:solidFill>
                  <a:srgbClr val="333333"/>
                </a:solidFill>
                <a:latin typeface="Times New Roman"/>
                <a:cs typeface="Times New Roman"/>
              </a:rPr>
              <a:t>architectures,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20" dirty="0">
                <a:solidFill>
                  <a:srgbClr val="333333"/>
                </a:solidFill>
                <a:latin typeface="Times New Roman"/>
                <a:cs typeface="Times New Roman"/>
              </a:rPr>
              <a:t>which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20" dirty="0">
                <a:solidFill>
                  <a:srgbClr val="333333"/>
                </a:solidFill>
                <a:latin typeface="Times New Roman"/>
                <a:cs typeface="Times New Roman"/>
              </a:rPr>
              <a:t>limit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scalability</a:t>
            </a:r>
            <a:r>
              <a:rPr sz="325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10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325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flexibility.</a:t>
            </a:r>
            <a:endParaRPr sz="3250" dirty="0">
              <a:latin typeface="Times New Roman"/>
              <a:cs typeface="Times New Roman"/>
            </a:endParaRPr>
          </a:p>
          <a:p>
            <a:pPr marL="12700" marR="5080">
              <a:lnSpc>
                <a:spcPct val="115999"/>
              </a:lnSpc>
              <a:tabLst>
                <a:tab pos="1476375" algn="l"/>
                <a:tab pos="3234055" algn="l"/>
                <a:tab pos="5494020" algn="l"/>
                <a:tab pos="7828915" algn="l"/>
                <a:tab pos="10368280" algn="l"/>
                <a:tab pos="11316335" algn="l"/>
                <a:tab pos="12948920" algn="l"/>
              </a:tabLst>
            </a:pP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Recent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50" dirty="0">
                <a:solidFill>
                  <a:srgbClr val="333333"/>
                </a:solidFill>
                <a:latin typeface="Times New Roman"/>
                <a:cs typeface="Times New Roman"/>
              </a:rPr>
              <a:t>research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emphasizes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cloud-based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55" dirty="0">
                <a:solidFill>
                  <a:srgbClr val="333333"/>
                </a:solidFill>
                <a:latin typeface="Times New Roman"/>
                <a:cs typeface="Times New Roman"/>
              </a:rPr>
              <a:t>architectures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75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55" dirty="0">
                <a:solidFill>
                  <a:srgbClr val="333333"/>
                </a:solidFill>
                <a:latin typeface="Times New Roman"/>
                <a:cs typeface="Times New Roman"/>
              </a:rPr>
              <a:t>modern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30" dirty="0">
                <a:solidFill>
                  <a:srgbClr val="333333"/>
                </a:solidFill>
                <a:latin typeface="Times New Roman"/>
                <a:cs typeface="Times New Roman"/>
              </a:rPr>
              <a:t>JavaScript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frameworks</a:t>
            </a:r>
            <a:r>
              <a:rPr sz="3250" spc="1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325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scalable</a:t>
            </a:r>
            <a:r>
              <a:rPr sz="325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educational</a:t>
            </a:r>
            <a:r>
              <a:rPr sz="325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systems.</a:t>
            </a:r>
            <a:endParaRPr sz="3250" dirty="0">
              <a:latin typeface="Times New Roman"/>
              <a:cs typeface="Times New Roman"/>
            </a:endParaRPr>
          </a:p>
          <a:p>
            <a:pPr marL="12700" marR="5080">
              <a:lnSpc>
                <a:spcPct val="115999"/>
              </a:lnSpc>
              <a:spcBef>
                <a:spcPts val="5"/>
              </a:spcBef>
            </a:pPr>
            <a:r>
              <a:rPr sz="3250" spc="-30" dirty="0">
                <a:solidFill>
                  <a:srgbClr val="333333"/>
                </a:solidFill>
                <a:latin typeface="Times New Roman"/>
                <a:cs typeface="Times New Roman"/>
              </a:rPr>
              <a:t>However,</a:t>
            </a:r>
            <a:r>
              <a:rPr sz="3250" spc="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70" dirty="0">
                <a:solidFill>
                  <a:srgbClr val="333333"/>
                </a:solidFill>
                <a:latin typeface="Times New Roman"/>
                <a:cs typeface="Times New Roman"/>
              </a:rPr>
              <a:t>many</a:t>
            </a:r>
            <a:r>
              <a:rPr sz="3250" spc="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systems</a:t>
            </a:r>
            <a:r>
              <a:rPr sz="3250" spc="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still</a:t>
            </a:r>
            <a:r>
              <a:rPr sz="3250" spc="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lack</a:t>
            </a:r>
            <a:r>
              <a:rPr sz="3250" spc="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55" dirty="0">
                <a:solidFill>
                  <a:srgbClr val="333333"/>
                </a:solidFill>
                <a:latin typeface="Times New Roman"/>
                <a:cs typeface="Times New Roman"/>
              </a:rPr>
              <a:t>integrated</a:t>
            </a:r>
            <a:r>
              <a:rPr sz="3250" spc="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65" dirty="0">
                <a:solidFill>
                  <a:srgbClr val="333333"/>
                </a:solidFill>
                <a:latin typeface="Times New Roman"/>
                <a:cs typeface="Times New Roman"/>
              </a:rPr>
              <a:t>payment</a:t>
            </a:r>
            <a:r>
              <a:rPr sz="3250" spc="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systems,</a:t>
            </a:r>
            <a:r>
              <a:rPr sz="3250" spc="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real-</a:t>
            </a:r>
            <a:r>
              <a:rPr sz="3250" spc="55" dirty="0">
                <a:solidFill>
                  <a:srgbClr val="333333"/>
                </a:solidFill>
                <a:latin typeface="Times New Roman"/>
                <a:cs typeface="Times New Roman"/>
              </a:rPr>
              <a:t>time</a:t>
            </a:r>
            <a:r>
              <a:rPr sz="3250" spc="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analytics,</a:t>
            </a:r>
            <a:r>
              <a:rPr sz="3250" spc="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75" dirty="0">
                <a:solidFill>
                  <a:srgbClr val="333333"/>
                </a:solidFill>
                <a:latin typeface="Times New Roman"/>
                <a:cs typeface="Times New Roman"/>
              </a:rPr>
              <a:t>and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efficient</a:t>
            </a:r>
            <a:r>
              <a:rPr sz="325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course</a:t>
            </a:r>
            <a:r>
              <a:rPr sz="325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65" dirty="0">
                <a:solidFill>
                  <a:srgbClr val="333333"/>
                </a:solidFill>
                <a:latin typeface="Times New Roman"/>
                <a:cs typeface="Times New Roman"/>
              </a:rPr>
              <a:t>management</a:t>
            </a:r>
            <a:r>
              <a:rPr sz="325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features.</a:t>
            </a:r>
            <a:endParaRPr sz="325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44332" y="26098"/>
            <a:ext cx="9408795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5" dirty="0"/>
              <a:t>Related</a:t>
            </a:r>
            <a:r>
              <a:rPr spc="-35" dirty="0"/>
              <a:t> </a:t>
            </a:r>
            <a:r>
              <a:rPr spc="480" dirty="0"/>
              <a:t>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7439" y="1740438"/>
            <a:ext cx="122533" cy="12253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7439" y="2898935"/>
            <a:ext cx="122533" cy="12253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7439" y="4057432"/>
            <a:ext cx="122533" cy="12253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7439" y="5215929"/>
            <a:ext cx="122533" cy="12253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07439" y="6374426"/>
            <a:ext cx="122533" cy="122532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722828" y="1421026"/>
            <a:ext cx="15985439" cy="5818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95"/>
              </a:spcBef>
              <a:tabLst>
                <a:tab pos="1562735" algn="l"/>
                <a:tab pos="2811780" algn="l"/>
                <a:tab pos="4411980" algn="l"/>
                <a:tab pos="6240780" algn="l"/>
                <a:tab pos="7294880" algn="l"/>
                <a:tab pos="8467090" algn="l"/>
                <a:tab pos="9473565" algn="l"/>
                <a:tab pos="11616690" algn="l"/>
                <a:tab pos="14037944" algn="l"/>
              </a:tabLst>
            </a:pP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Existing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online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55" dirty="0">
                <a:solidFill>
                  <a:srgbClr val="333333"/>
                </a:solidFill>
                <a:latin typeface="Times New Roman"/>
                <a:cs typeface="Times New Roman"/>
              </a:rPr>
              <a:t>learning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45" dirty="0">
                <a:solidFill>
                  <a:srgbClr val="333333"/>
                </a:solidFill>
                <a:latin typeface="Times New Roman"/>
                <a:cs typeface="Times New Roman"/>
              </a:rPr>
              <a:t>platforms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often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suffer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20" dirty="0">
                <a:solidFill>
                  <a:srgbClr val="333333"/>
                </a:solidFill>
                <a:latin typeface="Times New Roman"/>
                <a:cs typeface="Times New Roman"/>
              </a:rPr>
              <a:t>from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b="1" spc="50" dirty="0">
                <a:solidFill>
                  <a:srgbClr val="333333"/>
                </a:solidFill>
                <a:latin typeface="Times New Roman"/>
                <a:cs typeface="Times New Roman"/>
              </a:rPr>
              <a:t>fragmented</a:t>
            </a:r>
            <a:r>
              <a:rPr lang="en-US" sz="3250" b="1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b="1" spc="65" dirty="0">
                <a:solidFill>
                  <a:srgbClr val="333333"/>
                </a:solidFill>
                <a:latin typeface="Times New Roman"/>
                <a:cs typeface="Times New Roman"/>
              </a:rPr>
              <a:t>architectures</a:t>
            </a:r>
            <a:r>
              <a:rPr lang="en-US" sz="3250" b="1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90" dirty="0">
                <a:solidFill>
                  <a:srgbClr val="333333"/>
                </a:solidFill>
                <a:latin typeface="Times New Roman"/>
                <a:cs typeface="Times New Roman"/>
              </a:rPr>
              <a:t>and </a:t>
            </a:r>
            <a:r>
              <a:rPr sz="3250" b="1" spc="45" dirty="0">
                <a:solidFill>
                  <a:srgbClr val="333333"/>
                </a:solidFill>
                <a:latin typeface="Times New Roman"/>
                <a:cs typeface="Times New Roman"/>
              </a:rPr>
              <a:t>limited</a:t>
            </a:r>
            <a:r>
              <a:rPr sz="3250" b="1" spc="-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scalability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.</a:t>
            </a:r>
            <a:endParaRPr sz="3250" dirty="0">
              <a:latin typeface="Times New Roman"/>
              <a:cs typeface="Times New Roman"/>
            </a:endParaRPr>
          </a:p>
          <a:p>
            <a:pPr marL="12700" marR="5080">
              <a:lnSpc>
                <a:spcPct val="116900"/>
              </a:lnSpc>
            </a:pPr>
            <a:r>
              <a:rPr sz="3250" spc="55" dirty="0">
                <a:solidFill>
                  <a:srgbClr val="333333"/>
                </a:solidFill>
                <a:latin typeface="Times New Roman"/>
                <a:cs typeface="Times New Roman"/>
              </a:rPr>
              <a:t>Many</a:t>
            </a:r>
            <a:r>
              <a:rPr sz="3250" spc="3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systems</a:t>
            </a:r>
            <a:r>
              <a:rPr sz="3250" spc="3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fail</a:t>
            </a:r>
            <a:r>
              <a:rPr sz="3250" spc="3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3250" spc="3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provide</a:t>
            </a:r>
            <a:r>
              <a:rPr sz="3250" spc="3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70" dirty="0">
                <a:solidFill>
                  <a:srgbClr val="333333"/>
                </a:solidFill>
                <a:latin typeface="Times New Roman"/>
                <a:cs typeface="Times New Roman"/>
              </a:rPr>
              <a:t>integrated</a:t>
            </a:r>
            <a:r>
              <a:rPr sz="3250" spc="3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course</a:t>
            </a:r>
            <a:r>
              <a:rPr sz="3250" spc="3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60" dirty="0">
                <a:solidFill>
                  <a:srgbClr val="333333"/>
                </a:solidFill>
                <a:latin typeface="Times New Roman"/>
                <a:cs typeface="Times New Roman"/>
              </a:rPr>
              <a:t>management,</a:t>
            </a:r>
            <a:r>
              <a:rPr sz="3250" spc="3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80" dirty="0">
                <a:solidFill>
                  <a:srgbClr val="333333"/>
                </a:solidFill>
                <a:latin typeface="Times New Roman"/>
                <a:cs typeface="Times New Roman"/>
              </a:rPr>
              <a:t>payment</a:t>
            </a:r>
            <a:r>
              <a:rPr sz="3250" spc="3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systems,</a:t>
            </a:r>
            <a:r>
              <a:rPr sz="3250" spc="3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90" dirty="0">
                <a:solidFill>
                  <a:srgbClr val="333333"/>
                </a:solidFill>
                <a:latin typeface="Times New Roman"/>
                <a:cs typeface="Times New Roman"/>
              </a:rPr>
              <a:t>and </a:t>
            </a:r>
            <a:r>
              <a:rPr sz="3250" spc="100" dirty="0">
                <a:solidFill>
                  <a:srgbClr val="333333"/>
                </a:solidFill>
                <a:latin typeface="Times New Roman"/>
                <a:cs typeface="Times New Roman"/>
              </a:rPr>
              <a:t>student</a:t>
            </a:r>
            <a:r>
              <a:rPr sz="325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progress</a:t>
            </a:r>
            <a:r>
              <a:rPr sz="325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45" dirty="0">
                <a:solidFill>
                  <a:srgbClr val="333333"/>
                </a:solidFill>
                <a:latin typeface="Times New Roman"/>
                <a:cs typeface="Times New Roman"/>
              </a:rPr>
              <a:t>analytics</a:t>
            </a:r>
            <a:r>
              <a:rPr sz="325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95" dirty="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325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1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325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45" dirty="0">
                <a:solidFill>
                  <a:srgbClr val="333333"/>
                </a:solidFill>
                <a:latin typeface="Times New Roman"/>
                <a:cs typeface="Times New Roman"/>
              </a:rPr>
              <a:t>unified</a:t>
            </a:r>
            <a:r>
              <a:rPr sz="3250" spc="-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platform.</a:t>
            </a:r>
            <a:endParaRPr sz="3250" dirty="0">
              <a:latin typeface="Times New Roman"/>
              <a:cs typeface="Times New Roman"/>
            </a:endParaRPr>
          </a:p>
          <a:p>
            <a:pPr marL="12700" marR="5080">
              <a:lnSpc>
                <a:spcPct val="116900"/>
              </a:lnSpc>
              <a:spcBef>
                <a:spcPts val="5"/>
              </a:spcBef>
              <a:tabLst>
                <a:tab pos="2130425" algn="l"/>
                <a:tab pos="3030855" algn="l"/>
                <a:tab pos="5026025" algn="l"/>
                <a:tab pos="5589905" algn="l"/>
                <a:tab pos="7283450" algn="l"/>
                <a:tab pos="9274810" algn="l"/>
                <a:tab pos="10134600" algn="l"/>
                <a:tab pos="12059920" algn="l"/>
                <a:tab pos="13389610" algn="l"/>
              </a:tabLst>
            </a:pPr>
            <a:r>
              <a:rPr sz="3250" spc="75" dirty="0">
                <a:solidFill>
                  <a:srgbClr val="333333"/>
                </a:solidFill>
                <a:latin typeface="Times New Roman"/>
                <a:cs typeface="Times New Roman"/>
              </a:rPr>
              <a:t>Instructors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20" dirty="0">
                <a:solidFill>
                  <a:srgbClr val="333333"/>
                </a:solidFill>
                <a:latin typeface="Times New Roman"/>
                <a:cs typeface="Times New Roman"/>
              </a:rPr>
              <a:t>face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challenges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70" dirty="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creating,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managing,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9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delivering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course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65" dirty="0">
                <a:solidFill>
                  <a:srgbClr val="333333"/>
                </a:solidFill>
                <a:latin typeface="Times New Roman"/>
                <a:cs typeface="Times New Roman"/>
              </a:rPr>
              <a:t>content 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efficiently.</a:t>
            </a:r>
            <a:endParaRPr sz="3250" dirty="0">
              <a:latin typeface="Times New Roman"/>
              <a:cs typeface="Times New Roman"/>
            </a:endParaRPr>
          </a:p>
          <a:p>
            <a:pPr marL="12700" marR="5080">
              <a:lnSpc>
                <a:spcPct val="116900"/>
              </a:lnSpc>
              <a:tabLst>
                <a:tab pos="1782445" algn="l"/>
                <a:tab pos="3319145" algn="l"/>
                <a:tab pos="4705350" algn="l"/>
                <a:tab pos="6135370" algn="l"/>
                <a:tab pos="7691120" algn="l"/>
                <a:tab pos="9872345" algn="l"/>
                <a:tab pos="10805795" algn="l"/>
                <a:tab pos="13255625" algn="l"/>
              </a:tabLst>
            </a:pPr>
            <a:r>
              <a:rPr sz="3250" spc="35" dirty="0">
                <a:solidFill>
                  <a:srgbClr val="333333"/>
                </a:solidFill>
                <a:latin typeface="Times New Roman"/>
                <a:cs typeface="Times New Roman"/>
              </a:rPr>
              <a:t>Students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65" dirty="0">
                <a:solidFill>
                  <a:srgbClr val="333333"/>
                </a:solidFill>
                <a:latin typeface="Times New Roman"/>
                <a:cs typeface="Times New Roman"/>
              </a:rPr>
              <a:t>require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secure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access,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40" dirty="0">
                <a:solidFill>
                  <a:srgbClr val="333333"/>
                </a:solidFill>
                <a:latin typeface="Times New Roman"/>
                <a:cs typeface="Times New Roman"/>
              </a:rPr>
              <a:t>smooth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navigation,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9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personalized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55" dirty="0">
                <a:solidFill>
                  <a:srgbClr val="333333"/>
                </a:solidFill>
                <a:latin typeface="Times New Roman"/>
                <a:cs typeface="Times New Roman"/>
              </a:rPr>
              <a:t>learning 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experiences.</a:t>
            </a:r>
            <a:endParaRPr sz="3250" dirty="0">
              <a:latin typeface="Times New Roman"/>
              <a:cs typeface="Times New Roman"/>
            </a:endParaRPr>
          </a:p>
          <a:p>
            <a:pPr marL="12700" marR="5080">
              <a:lnSpc>
                <a:spcPct val="116900"/>
              </a:lnSpc>
              <a:spcBef>
                <a:spcPts val="5"/>
              </a:spcBef>
            </a:pP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Therefore,</a:t>
            </a:r>
            <a:r>
              <a:rPr sz="3250" spc="3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105" dirty="0">
                <a:solidFill>
                  <a:srgbClr val="333333"/>
                </a:solidFill>
                <a:latin typeface="Times New Roman"/>
                <a:cs typeface="Times New Roman"/>
              </a:rPr>
              <a:t>there</a:t>
            </a:r>
            <a:r>
              <a:rPr sz="3250" spc="3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3250" spc="3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1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3250" spc="3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60" dirty="0">
                <a:solidFill>
                  <a:srgbClr val="333333"/>
                </a:solidFill>
                <a:latin typeface="Times New Roman"/>
                <a:cs typeface="Times New Roman"/>
              </a:rPr>
              <a:t>need</a:t>
            </a:r>
            <a:r>
              <a:rPr sz="3250" spc="3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3250" spc="3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1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3250" spc="3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b="1" spc="50" dirty="0">
                <a:solidFill>
                  <a:srgbClr val="333333"/>
                </a:solidFill>
                <a:latin typeface="Times New Roman"/>
                <a:cs typeface="Times New Roman"/>
              </a:rPr>
              <a:t>modern,</a:t>
            </a:r>
            <a:r>
              <a:rPr sz="3250" b="1" spc="3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b="1" dirty="0">
                <a:solidFill>
                  <a:srgbClr val="333333"/>
                </a:solidFill>
                <a:latin typeface="Times New Roman"/>
                <a:cs typeface="Times New Roman"/>
              </a:rPr>
              <a:t>scalable,</a:t>
            </a:r>
            <a:r>
              <a:rPr sz="3250" b="1" spc="3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b="1" spc="114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3250" b="1" spc="3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b="1" dirty="0">
                <a:solidFill>
                  <a:srgbClr val="333333"/>
                </a:solidFill>
                <a:latin typeface="Times New Roman"/>
                <a:cs typeface="Times New Roman"/>
              </a:rPr>
              <a:t>secure</a:t>
            </a:r>
            <a:r>
              <a:rPr sz="3250" b="1" spc="3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b="1" dirty="0">
                <a:solidFill>
                  <a:srgbClr val="333333"/>
                </a:solidFill>
                <a:latin typeface="Times New Roman"/>
                <a:cs typeface="Times New Roman"/>
              </a:rPr>
              <a:t>EdTech</a:t>
            </a:r>
            <a:r>
              <a:rPr sz="3250" b="1" spc="3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b="1" spc="60" dirty="0">
                <a:solidFill>
                  <a:srgbClr val="333333"/>
                </a:solidFill>
                <a:latin typeface="Times New Roman"/>
                <a:cs typeface="Times New Roman"/>
              </a:rPr>
              <a:t>platform</a:t>
            </a:r>
            <a:r>
              <a:rPr sz="3250" b="1" spc="3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60" dirty="0">
                <a:solidFill>
                  <a:srgbClr val="333333"/>
                </a:solidFill>
                <a:latin typeface="Times New Roman"/>
                <a:cs typeface="Times New Roman"/>
              </a:rPr>
              <a:t>built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using</a:t>
            </a:r>
            <a:r>
              <a:rPr sz="3250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60" dirty="0">
                <a:solidFill>
                  <a:srgbClr val="333333"/>
                </a:solidFill>
                <a:latin typeface="Times New Roman"/>
                <a:cs typeface="Times New Roman"/>
              </a:rPr>
              <a:t>contemporary</a:t>
            </a:r>
            <a:r>
              <a:rPr sz="3250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web</a:t>
            </a:r>
            <a:r>
              <a:rPr sz="3250" spc="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technologies.</a:t>
            </a:r>
            <a:endParaRPr sz="3250" dirty="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5907677" y="26098"/>
            <a:ext cx="5618480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5" dirty="0"/>
              <a:t>Problem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9599" y="3272"/>
            <a:ext cx="11243310" cy="1058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750" spc="565" dirty="0"/>
              <a:t>Proposed</a:t>
            </a:r>
            <a:r>
              <a:rPr sz="6750" spc="-5" dirty="0"/>
              <a:t> </a:t>
            </a:r>
            <a:r>
              <a:rPr sz="6750" spc="595" dirty="0"/>
              <a:t>Methodology</a:t>
            </a:r>
            <a:endParaRPr sz="6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2311" y="2456370"/>
            <a:ext cx="114377" cy="11437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2311" y="2982508"/>
            <a:ext cx="114377" cy="11437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2311" y="3508645"/>
            <a:ext cx="114377" cy="1143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2311" y="4034783"/>
            <a:ext cx="114377" cy="1143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2311" y="4560921"/>
            <a:ext cx="114377" cy="1143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5049" y="5834383"/>
            <a:ext cx="112035" cy="11203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65049" y="6349744"/>
            <a:ext cx="112035" cy="11203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65049" y="6865106"/>
            <a:ext cx="112035" cy="11203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5049" y="7380468"/>
            <a:ext cx="112035" cy="11203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5049" y="7895830"/>
            <a:ext cx="112035" cy="11203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905040" y="1403055"/>
            <a:ext cx="13991590" cy="67510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95"/>
              </a:spcBef>
            </a:pPr>
            <a:r>
              <a:rPr sz="2850" spc="-114" dirty="0">
                <a:solidFill>
                  <a:srgbClr val="333333"/>
                </a:solidFill>
                <a:latin typeface="Trebuchet MS"/>
                <a:cs typeface="Trebuchet MS"/>
              </a:rPr>
              <a:t>The</a:t>
            </a:r>
            <a:r>
              <a:rPr sz="2850" spc="-7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850" dirty="0">
                <a:solidFill>
                  <a:srgbClr val="333333"/>
                </a:solidFill>
                <a:latin typeface="Trebuchet MS"/>
                <a:cs typeface="Trebuchet MS"/>
              </a:rPr>
              <a:t>proposed</a:t>
            </a:r>
            <a:r>
              <a:rPr sz="2850" spc="-6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850" dirty="0">
                <a:solidFill>
                  <a:srgbClr val="333333"/>
                </a:solidFill>
                <a:latin typeface="Trebuchet MS"/>
                <a:cs typeface="Trebuchet MS"/>
              </a:rPr>
              <a:t>system</a:t>
            </a:r>
            <a:r>
              <a:rPr sz="2850" spc="-6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850" dirty="0">
                <a:solidFill>
                  <a:srgbClr val="333333"/>
                </a:solidFill>
                <a:latin typeface="Trebuchet MS"/>
                <a:cs typeface="Trebuchet MS"/>
              </a:rPr>
              <a:t>Study</a:t>
            </a:r>
            <a:r>
              <a:rPr sz="2850" spc="-6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850" spc="-55" dirty="0">
                <a:solidFill>
                  <a:srgbClr val="333333"/>
                </a:solidFill>
                <a:latin typeface="Trebuchet MS"/>
                <a:cs typeface="Trebuchet MS"/>
              </a:rPr>
              <a:t>Notion</a:t>
            </a:r>
            <a:r>
              <a:rPr sz="2850" spc="-6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850" spc="70" dirty="0">
                <a:solidFill>
                  <a:srgbClr val="333333"/>
                </a:solidFill>
                <a:latin typeface="Trebuchet MS"/>
                <a:cs typeface="Trebuchet MS"/>
              </a:rPr>
              <a:t>is</a:t>
            </a:r>
            <a:r>
              <a:rPr sz="2850" spc="-6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850" dirty="0">
                <a:solidFill>
                  <a:srgbClr val="333333"/>
                </a:solidFill>
                <a:latin typeface="Trebuchet MS"/>
                <a:cs typeface="Trebuchet MS"/>
              </a:rPr>
              <a:t>developed</a:t>
            </a:r>
            <a:r>
              <a:rPr sz="2850" spc="-6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850" dirty="0">
                <a:solidFill>
                  <a:srgbClr val="333333"/>
                </a:solidFill>
                <a:latin typeface="Trebuchet MS"/>
                <a:cs typeface="Trebuchet MS"/>
              </a:rPr>
              <a:t>using</a:t>
            </a:r>
            <a:r>
              <a:rPr sz="2850" spc="-6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850" spc="-95" dirty="0">
                <a:solidFill>
                  <a:srgbClr val="333333"/>
                </a:solidFill>
                <a:latin typeface="Trebuchet MS"/>
                <a:cs typeface="Trebuchet MS"/>
              </a:rPr>
              <a:t>the</a:t>
            </a:r>
            <a:r>
              <a:rPr sz="2850" spc="-6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850" dirty="0">
                <a:solidFill>
                  <a:srgbClr val="333333"/>
                </a:solidFill>
                <a:latin typeface="Trebuchet MS"/>
                <a:cs typeface="Trebuchet MS"/>
              </a:rPr>
              <a:t>MERN</a:t>
            </a:r>
            <a:r>
              <a:rPr sz="2850" spc="-6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850" spc="65" dirty="0">
                <a:solidFill>
                  <a:srgbClr val="333333"/>
                </a:solidFill>
                <a:latin typeface="Trebuchet MS"/>
                <a:cs typeface="Trebuchet MS"/>
              </a:rPr>
              <a:t>stack</a:t>
            </a:r>
            <a:r>
              <a:rPr sz="2850" spc="-6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850" spc="-25" dirty="0">
                <a:solidFill>
                  <a:srgbClr val="333333"/>
                </a:solidFill>
                <a:latin typeface="Trebuchet MS"/>
                <a:cs typeface="Trebuchet MS"/>
              </a:rPr>
              <a:t>architecture.</a:t>
            </a:r>
            <a:endParaRPr lang="en-IN" sz="2850" dirty="0">
              <a:latin typeface="Trebuchet MS"/>
              <a:cs typeface="Trebuchet MS"/>
            </a:endParaRPr>
          </a:p>
          <a:p>
            <a:pPr marL="660400">
              <a:lnSpc>
                <a:spcPct val="100000"/>
              </a:lnSpc>
              <a:spcBef>
                <a:spcPts val="3040"/>
              </a:spcBef>
            </a:pPr>
            <a:r>
              <a:rPr lang="en-IN" sz="3000" spc="-35" dirty="0">
                <a:solidFill>
                  <a:srgbClr val="333333"/>
                </a:solidFill>
                <a:latin typeface="Times New Roman"/>
                <a:cs typeface="Times New Roman"/>
              </a:rPr>
              <a:t>Technology</a:t>
            </a:r>
            <a:r>
              <a:rPr lang="en-IN" sz="3000" spc="-1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lang="en-IN" sz="3000" spc="-20" dirty="0">
                <a:solidFill>
                  <a:srgbClr val="333333"/>
                </a:solidFill>
                <a:latin typeface="Times New Roman"/>
                <a:cs typeface="Times New Roman"/>
              </a:rPr>
              <a:t>Stack</a:t>
            </a:r>
            <a:endParaRPr lang="en-IN" sz="3000" dirty="0">
              <a:latin typeface="Times New Roman"/>
              <a:cs typeface="Times New Roman"/>
            </a:endParaRPr>
          </a:p>
          <a:p>
            <a:pPr marL="660400" marR="4043679">
              <a:lnSpc>
                <a:spcPct val="115100"/>
              </a:lnSpc>
            </a:pPr>
            <a:r>
              <a:rPr sz="3000" spc="-30" dirty="0">
                <a:solidFill>
                  <a:srgbClr val="333333"/>
                </a:solidFill>
                <a:latin typeface="Times New Roman"/>
                <a:cs typeface="Times New Roman"/>
              </a:rPr>
              <a:t>React.js</a:t>
            </a:r>
            <a:r>
              <a:rPr sz="30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33"/>
                </a:solidFill>
                <a:latin typeface="Times New Roman"/>
                <a:cs typeface="Times New Roman"/>
              </a:rPr>
              <a:t>–</a:t>
            </a:r>
            <a:r>
              <a:rPr sz="30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333333"/>
                </a:solidFill>
                <a:latin typeface="Times New Roman"/>
                <a:cs typeface="Times New Roman"/>
              </a:rPr>
              <a:t>Frontend</a:t>
            </a:r>
            <a:r>
              <a:rPr sz="30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33"/>
                </a:solidFill>
                <a:latin typeface="Times New Roman"/>
                <a:cs typeface="Times New Roman"/>
              </a:rPr>
              <a:t>interface</a:t>
            </a:r>
            <a:r>
              <a:rPr sz="30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30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33"/>
                </a:solidFill>
                <a:latin typeface="Times New Roman"/>
                <a:cs typeface="Times New Roman"/>
              </a:rPr>
              <a:t>responsive</a:t>
            </a:r>
            <a:r>
              <a:rPr sz="30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spc="70" dirty="0">
                <a:solidFill>
                  <a:srgbClr val="333333"/>
                </a:solidFill>
                <a:latin typeface="Times New Roman"/>
                <a:cs typeface="Times New Roman"/>
              </a:rPr>
              <a:t>user</a:t>
            </a:r>
            <a:r>
              <a:rPr sz="30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333333"/>
                </a:solidFill>
                <a:latin typeface="Times New Roman"/>
                <a:cs typeface="Times New Roman"/>
              </a:rPr>
              <a:t>experience </a:t>
            </a:r>
            <a:r>
              <a:rPr sz="3000" spc="-40" dirty="0">
                <a:solidFill>
                  <a:srgbClr val="333333"/>
                </a:solidFill>
                <a:latin typeface="Times New Roman"/>
                <a:cs typeface="Times New Roman"/>
              </a:rPr>
              <a:t>Node.js</a:t>
            </a:r>
            <a:r>
              <a:rPr sz="3000" spc="-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33"/>
                </a:solidFill>
                <a:latin typeface="Times New Roman"/>
                <a:cs typeface="Times New Roman"/>
              </a:rPr>
              <a:t>–</a:t>
            </a:r>
            <a:r>
              <a:rPr sz="3000" spc="-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spc="-30" dirty="0">
                <a:solidFill>
                  <a:srgbClr val="333333"/>
                </a:solidFill>
                <a:latin typeface="Times New Roman"/>
                <a:cs typeface="Times New Roman"/>
              </a:rPr>
              <a:t>Server-</a:t>
            </a:r>
            <a:r>
              <a:rPr sz="3000" dirty="0">
                <a:solidFill>
                  <a:srgbClr val="333333"/>
                </a:solidFill>
                <a:latin typeface="Times New Roman"/>
                <a:cs typeface="Times New Roman"/>
              </a:rPr>
              <a:t>side</a:t>
            </a:r>
            <a:r>
              <a:rPr sz="3000" spc="-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spc="90" dirty="0">
                <a:solidFill>
                  <a:srgbClr val="333333"/>
                </a:solidFill>
                <a:latin typeface="Times New Roman"/>
                <a:cs typeface="Times New Roman"/>
              </a:rPr>
              <a:t>runtime</a:t>
            </a:r>
            <a:r>
              <a:rPr sz="3000" spc="-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spc="45" dirty="0">
                <a:solidFill>
                  <a:srgbClr val="333333"/>
                </a:solidFill>
                <a:latin typeface="Times New Roman"/>
                <a:cs typeface="Times New Roman"/>
              </a:rPr>
              <a:t>environment</a:t>
            </a:r>
            <a:endParaRPr sz="3000" dirty="0">
              <a:latin typeface="Times New Roman"/>
              <a:cs typeface="Times New Roman"/>
            </a:endParaRPr>
          </a:p>
          <a:p>
            <a:pPr marL="660400" marR="4641850">
              <a:lnSpc>
                <a:spcPct val="115100"/>
              </a:lnSpc>
            </a:pPr>
            <a:r>
              <a:rPr sz="3000" spc="-25" dirty="0">
                <a:solidFill>
                  <a:srgbClr val="333333"/>
                </a:solidFill>
                <a:latin typeface="Times New Roman"/>
                <a:cs typeface="Times New Roman"/>
              </a:rPr>
              <a:t>Express.js</a:t>
            </a:r>
            <a:r>
              <a:rPr sz="30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33"/>
                </a:solidFill>
                <a:latin typeface="Times New Roman"/>
                <a:cs typeface="Times New Roman"/>
              </a:rPr>
              <a:t>–</a:t>
            </a:r>
            <a:r>
              <a:rPr sz="300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33"/>
                </a:solidFill>
                <a:latin typeface="Times New Roman"/>
                <a:cs typeface="Times New Roman"/>
              </a:rPr>
              <a:t>Backend</a:t>
            </a:r>
            <a:r>
              <a:rPr sz="300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33"/>
                </a:solidFill>
                <a:latin typeface="Times New Roman"/>
                <a:cs typeface="Times New Roman"/>
              </a:rPr>
              <a:t>framework</a:t>
            </a:r>
            <a:r>
              <a:rPr sz="300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30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33"/>
                </a:solidFill>
                <a:latin typeface="Times New Roman"/>
                <a:cs typeface="Times New Roman"/>
              </a:rPr>
              <a:t>building</a:t>
            </a:r>
            <a:r>
              <a:rPr sz="300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spc="-229" dirty="0">
                <a:solidFill>
                  <a:srgbClr val="333333"/>
                </a:solidFill>
                <a:latin typeface="Times New Roman"/>
                <a:cs typeface="Times New Roman"/>
              </a:rPr>
              <a:t>REST</a:t>
            </a:r>
            <a:r>
              <a:rPr sz="300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333333"/>
                </a:solidFill>
                <a:latin typeface="Times New Roman"/>
                <a:cs typeface="Times New Roman"/>
              </a:rPr>
              <a:t>API</a:t>
            </a:r>
            <a:r>
              <a:rPr lang="en-IN" sz="3000" spc="-20" dirty="0">
                <a:solidFill>
                  <a:srgbClr val="333333"/>
                </a:solidFill>
                <a:latin typeface="Times New Roman"/>
                <a:cs typeface="Times New Roman"/>
              </a:rPr>
              <a:t>s </a:t>
            </a:r>
            <a:r>
              <a:rPr sz="3000" spc="-105" dirty="0">
                <a:solidFill>
                  <a:srgbClr val="333333"/>
                </a:solidFill>
                <a:latin typeface="Times New Roman"/>
                <a:cs typeface="Times New Roman"/>
              </a:rPr>
              <a:t>MongoDB</a:t>
            </a:r>
            <a:r>
              <a:rPr sz="3000" spc="-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33"/>
                </a:solidFill>
                <a:latin typeface="Times New Roman"/>
                <a:cs typeface="Times New Roman"/>
              </a:rPr>
              <a:t>–</a:t>
            </a:r>
            <a:r>
              <a:rPr sz="3000" spc="-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spc="-245" dirty="0">
                <a:solidFill>
                  <a:srgbClr val="333333"/>
                </a:solidFill>
                <a:latin typeface="Times New Roman"/>
                <a:cs typeface="Times New Roman"/>
              </a:rPr>
              <a:t>NoSQL</a:t>
            </a:r>
            <a:r>
              <a:rPr sz="3000" spc="-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spc="50" dirty="0">
                <a:solidFill>
                  <a:srgbClr val="333333"/>
                </a:solidFill>
                <a:latin typeface="Times New Roman"/>
                <a:cs typeface="Times New Roman"/>
              </a:rPr>
              <a:t>database</a:t>
            </a:r>
            <a:r>
              <a:rPr sz="3000" spc="-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3000" spc="-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33"/>
                </a:solidFill>
                <a:latin typeface="Times New Roman"/>
                <a:cs typeface="Times New Roman"/>
              </a:rPr>
              <a:t>scalable</a:t>
            </a:r>
            <a:r>
              <a:rPr sz="3000" spc="-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spc="75" dirty="0">
                <a:solidFill>
                  <a:srgbClr val="333333"/>
                </a:solidFill>
                <a:latin typeface="Times New Roman"/>
                <a:cs typeface="Times New Roman"/>
              </a:rPr>
              <a:t>data</a:t>
            </a:r>
            <a:r>
              <a:rPr sz="3000" spc="-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333333"/>
                </a:solidFill>
                <a:latin typeface="Times New Roman"/>
                <a:cs typeface="Times New Roman"/>
              </a:rPr>
              <a:t>storage</a:t>
            </a:r>
            <a:endParaRPr lang="en-IN" sz="3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90"/>
              </a:spcBef>
            </a:pPr>
            <a:r>
              <a:rPr lang="en-IN" sz="2950" b="1" spc="50" dirty="0">
                <a:solidFill>
                  <a:srgbClr val="333333"/>
                </a:solidFill>
                <a:latin typeface="Times New Roman"/>
                <a:cs typeface="Times New Roman"/>
              </a:rPr>
              <a:t>System</a:t>
            </a:r>
            <a:r>
              <a:rPr lang="en-IN" sz="2950" b="1" spc="-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lang="en-IN" sz="2950" b="1" spc="35" dirty="0">
                <a:solidFill>
                  <a:srgbClr val="333333"/>
                </a:solidFill>
                <a:latin typeface="Times New Roman"/>
                <a:cs typeface="Times New Roman"/>
              </a:rPr>
              <a:t>Modules</a:t>
            </a:r>
            <a:endParaRPr lang="en-IN" sz="2950" dirty="0">
              <a:latin typeface="Times New Roman"/>
              <a:cs typeface="Times New Roman"/>
            </a:endParaRPr>
          </a:p>
          <a:p>
            <a:pPr marL="647065" marR="4631690">
              <a:lnSpc>
                <a:spcPct val="114599"/>
              </a:lnSpc>
            </a:pPr>
            <a:r>
              <a:rPr sz="2950" dirty="0">
                <a:solidFill>
                  <a:srgbClr val="333333"/>
                </a:solidFill>
                <a:latin typeface="Times New Roman"/>
                <a:cs typeface="Times New Roman"/>
              </a:rPr>
              <a:t>User</a:t>
            </a:r>
            <a:r>
              <a:rPr sz="295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333333"/>
                </a:solidFill>
                <a:latin typeface="Times New Roman"/>
                <a:cs typeface="Times New Roman"/>
              </a:rPr>
              <a:t>Authentication</a:t>
            </a:r>
            <a:r>
              <a:rPr sz="295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333333"/>
                </a:solidFill>
                <a:latin typeface="Times New Roman"/>
                <a:cs typeface="Times New Roman"/>
              </a:rPr>
              <a:t>Module</a:t>
            </a:r>
            <a:r>
              <a:rPr sz="295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50" spc="-120" dirty="0">
                <a:solidFill>
                  <a:srgbClr val="333333"/>
                </a:solidFill>
                <a:latin typeface="Times New Roman"/>
                <a:cs typeface="Times New Roman"/>
              </a:rPr>
              <a:t>(JWT-</a:t>
            </a:r>
            <a:r>
              <a:rPr sz="2950" dirty="0">
                <a:solidFill>
                  <a:srgbClr val="333333"/>
                </a:solidFill>
                <a:latin typeface="Times New Roman"/>
                <a:cs typeface="Times New Roman"/>
              </a:rPr>
              <a:t>based</a:t>
            </a:r>
            <a:r>
              <a:rPr sz="295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50" spc="50" dirty="0">
                <a:solidFill>
                  <a:srgbClr val="333333"/>
                </a:solidFill>
                <a:latin typeface="Times New Roman"/>
                <a:cs typeface="Times New Roman"/>
              </a:rPr>
              <a:t>authentication) </a:t>
            </a:r>
            <a:r>
              <a:rPr sz="2950" spc="-50" dirty="0">
                <a:solidFill>
                  <a:srgbClr val="333333"/>
                </a:solidFill>
                <a:latin typeface="Times New Roman"/>
                <a:cs typeface="Times New Roman"/>
              </a:rPr>
              <a:t>Course</a:t>
            </a:r>
            <a:r>
              <a:rPr sz="2950" spc="10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333333"/>
                </a:solidFill>
                <a:latin typeface="Times New Roman"/>
                <a:cs typeface="Times New Roman"/>
              </a:rPr>
              <a:t>Management</a:t>
            </a:r>
            <a:r>
              <a:rPr sz="2950" spc="10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333333"/>
                </a:solidFill>
                <a:latin typeface="Times New Roman"/>
                <a:cs typeface="Times New Roman"/>
              </a:rPr>
              <a:t>Module</a:t>
            </a:r>
            <a:endParaRPr sz="2950" dirty="0">
              <a:latin typeface="Times New Roman"/>
              <a:cs typeface="Times New Roman"/>
            </a:endParaRPr>
          </a:p>
          <a:p>
            <a:pPr marL="647065" marR="7106920">
              <a:lnSpc>
                <a:spcPct val="114599"/>
              </a:lnSpc>
            </a:pPr>
            <a:r>
              <a:rPr sz="2950" dirty="0">
                <a:solidFill>
                  <a:srgbClr val="333333"/>
                </a:solidFill>
                <a:latin typeface="Times New Roman"/>
                <a:cs typeface="Times New Roman"/>
              </a:rPr>
              <a:t>Payment</a:t>
            </a:r>
            <a:r>
              <a:rPr sz="295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50" spc="45" dirty="0">
                <a:solidFill>
                  <a:srgbClr val="333333"/>
                </a:solidFill>
                <a:latin typeface="Times New Roman"/>
                <a:cs typeface="Times New Roman"/>
              </a:rPr>
              <a:t>Integration</a:t>
            </a:r>
            <a:r>
              <a:rPr sz="295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333333"/>
                </a:solidFill>
                <a:latin typeface="Times New Roman"/>
                <a:cs typeface="Times New Roman"/>
              </a:rPr>
              <a:t>Module</a:t>
            </a:r>
            <a:r>
              <a:rPr sz="295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333333"/>
                </a:solidFill>
                <a:latin typeface="Times New Roman"/>
                <a:cs typeface="Times New Roman"/>
              </a:rPr>
              <a:t>(Razorpay) </a:t>
            </a:r>
            <a:r>
              <a:rPr sz="2950" dirty="0">
                <a:solidFill>
                  <a:srgbClr val="333333"/>
                </a:solidFill>
                <a:latin typeface="Times New Roman"/>
                <a:cs typeface="Times New Roman"/>
              </a:rPr>
              <a:t>Student</a:t>
            </a:r>
            <a:r>
              <a:rPr sz="295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333333"/>
                </a:solidFill>
                <a:latin typeface="Times New Roman"/>
                <a:cs typeface="Times New Roman"/>
              </a:rPr>
              <a:t>Progress</a:t>
            </a:r>
            <a:r>
              <a:rPr sz="295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333333"/>
                </a:solidFill>
                <a:latin typeface="Times New Roman"/>
                <a:cs typeface="Times New Roman"/>
              </a:rPr>
              <a:t>Tracking</a:t>
            </a:r>
            <a:r>
              <a:rPr sz="295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333333"/>
                </a:solidFill>
                <a:latin typeface="Times New Roman"/>
                <a:cs typeface="Times New Roman"/>
              </a:rPr>
              <a:t>Module </a:t>
            </a:r>
            <a:r>
              <a:rPr sz="2950" spc="-25" dirty="0">
                <a:solidFill>
                  <a:srgbClr val="333333"/>
                </a:solidFill>
                <a:latin typeface="Times New Roman"/>
                <a:cs typeface="Times New Roman"/>
              </a:rPr>
              <a:t>Analytics</a:t>
            </a:r>
            <a:r>
              <a:rPr sz="2950" spc="-1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333333"/>
                </a:solidFill>
                <a:latin typeface="Times New Roman"/>
                <a:cs typeface="Times New Roman"/>
              </a:rPr>
              <a:t>Dashboard</a:t>
            </a:r>
            <a:endParaRPr sz="29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6422" y="201551"/>
            <a:ext cx="10866120" cy="1148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350" spc="535" dirty="0">
                <a:solidFill>
                  <a:srgbClr val="000000"/>
                </a:solidFill>
              </a:rPr>
              <a:t>System</a:t>
            </a:r>
            <a:r>
              <a:rPr sz="7350" spc="-5" dirty="0">
                <a:solidFill>
                  <a:srgbClr val="000000"/>
                </a:solidFill>
              </a:rPr>
              <a:t> </a:t>
            </a:r>
            <a:r>
              <a:rPr sz="7350" spc="540" dirty="0">
                <a:solidFill>
                  <a:srgbClr val="000000"/>
                </a:solidFill>
              </a:rPr>
              <a:t>Architecture</a:t>
            </a:r>
            <a:endParaRPr sz="7350"/>
          </a:p>
        </p:txBody>
      </p:sp>
      <p:sp>
        <p:nvSpPr>
          <p:cNvPr id="4" name="object 4"/>
          <p:cNvSpPr txBox="1"/>
          <p:nvPr/>
        </p:nvSpPr>
        <p:spPr>
          <a:xfrm>
            <a:off x="6181681" y="1696961"/>
            <a:ext cx="5709920" cy="512318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3200" b="1" dirty="0">
                <a:latin typeface="Trebuchet MS"/>
                <a:cs typeface="Trebuchet MS"/>
              </a:rPr>
              <a:t>Users</a:t>
            </a:r>
            <a:r>
              <a:rPr sz="3200" b="1" spc="-8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(Students</a:t>
            </a:r>
            <a:r>
              <a:rPr sz="3200" b="1" spc="-80" dirty="0">
                <a:latin typeface="Trebuchet MS"/>
                <a:cs typeface="Trebuchet MS"/>
              </a:rPr>
              <a:t> </a:t>
            </a:r>
            <a:r>
              <a:rPr sz="3200" b="1" spc="409" dirty="0">
                <a:latin typeface="Trebuchet MS"/>
                <a:cs typeface="Trebuchet MS"/>
              </a:rPr>
              <a:t>/</a:t>
            </a:r>
            <a:r>
              <a:rPr sz="3200" b="1" spc="-80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Instructors)</a:t>
            </a:r>
            <a:endParaRPr sz="3200" dirty="0">
              <a:latin typeface="Trebuchet MS"/>
              <a:cs typeface="Trebuchet MS"/>
            </a:endParaRPr>
          </a:p>
          <a:p>
            <a:pPr marL="983615" algn="ctr">
              <a:lnSpc>
                <a:spcPct val="100000"/>
              </a:lnSpc>
              <a:spcBef>
                <a:spcPts val="260"/>
              </a:spcBef>
            </a:pPr>
            <a:r>
              <a:rPr sz="3600" b="1" spc="894" dirty="0">
                <a:latin typeface="Arial"/>
                <a:cs typeface="Arial"/>
              </a:rPr>
              <a:t>│</a:t>
            </a:r>
            <a:endParaRPr sz="3600" dirty="0">
              <a:latin typeface="Arial"/>
              <a:cs typeface="Arial"/>
            </a:endParaRPr>
          </a:p>
          <a:p>
            <a:pPr marL="983615" algn="ctr">
              <a:lnSpc>
                <a:spcPct val="100000"/>
              </a:lnSpc>
              <a:spcBef>
                <a:spcPts val="180"/>
              </a:spcBef>
            </a:pPr>
            <a:r>
              <a:rPr sz="3600" b="1" spc="-409" dirty="0">
                <a:latin typeface="Arial"/>
                <a:cs typeface="Arial"/>
              </a:rPr>
              <a:t>▼</a:t>
            </a:r>
            <a:endParaRPr sz="3600" dirty="0">
              <a:latin typeface="Arial"/>
              <a:cs typeface="Arial"/>
            </a:endParaRPr>
          </a:p>
          <a:p>
            <a:pPr marL="473075" algn="ctr">
              <a:lnSpc>
                <a:spcPct val="100000"/>
              </a:lnSpc>
              <a:spcBef>
                <a:spcPts val="580"/>
              </a:spcBef>
            </a:pPr>
            <a:r>
              <a:rPr sz="3200" b="1" spc="-35" dirty="0">
                <a:latin typeface="Trebuchet MS"/>
                <a:cs typeface="Trebuchet MS"/>
              </a:rPr>
              <a:t>React.js</a:t>
            </a:r>
            <a:r>
              <a:rPr sz="3200" b="1" spc="-18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Frontend</a:t>
            </a:r>
            <a:endParaRPr sz="3200" dirty="0">
              <a:latin typeface="Trebuchet MS"/>
              <a:cs typeface="Trebuchet MS"/>
            </a:endParaRPr>
          </a:p>
          <a:p>
            <a:pPr marL="983615" algn="ctr">
              <a:lnSpc>
                <a:spcPct val="100000"/>
              </a:lnSpc>
              <a:spcBef>
                <a:spcPts val="260"/>
              </a:spcBef>
            </a:pPr>
            <a:r>
              <a:rPr sz="3600" b="1" spc="894" dirty="0">
                <a:latin typeface="Arial"/>
                <a:cs typeface="Arial"/>
              </a:rPr>
              <a:t>│</a:t>
            </a:r>
            <a:endParaRPr sz="3600" dirty="0">
              <a:latin typeface="Arial"/>
              <a:cs typeface="Arial"/>
            </a:endParaRPr>
          </a:p>
          <a:p>
            <a:pPr marL="983615" algn="ctr">
              <a:lnSpc>
                <a:spcPct val="100000"/>
              </a:lnSpc>
              <a:spcBef>
                <a:spcPts val="180"/>
              </a:spcBef>
            </a:pPr>
            <a:r>
              <a:rPr sz="3600" b="1" spc="-409" dirty="0">
                <a:latin typeface="Arial"/>
                <a:cs typeface="Arial"/>
              </a:rPr>
              <a:t>▼</a:t>
            </a:r>
            <a:endParaRPr sz="3600" dirty="0">
              <a:latin typeface="Arial"/>
              <a:cs typeface="Arial"/>
            </a:endParaRPr>
          </a:p>
          <a:p>
            <a:pPr marL="690245">
              <a:lnSpc>
                <a:spcPct val="100000"/>
              </a:lnSpc>
              <a:spcBef>
                <a:spcPts val="580"/>
              </a:spcBef>
            </a:pPr>
            <a:r>
              <a:rPr sz="3200" b="1" spc="-35" dirty="0">
                <a:latin typeface="Trebuchet MS"/>
                <a:cs typeface="Trebuchet MS"/>
              </a:rPr>
              <a:t>Node.js</a:t>
            </a:r>
            <a:r>
              <a:rPr sz="3200" b="1" spc="-130" dirty="0">
                <a:latin typeface="Trebuchet MS"/>
                <a:cs typeface="Trebuchet MS"/>
              </a:rPr>
              <a:t> </a:t>
            </a:r>
            <a:r>
              <a:rPr sz="3200" b="1" spc="-470" dirty="0">
                <a:latin typeface="Trebuchet MS"/>
                <a:cs typeface="Trebuchet MS"/>
              </a:rPr>
              <a:t>+</a:t>
            </a:r>
            <a:r>
              <a:rPr sz="3200" b="1" spc="-13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Express</a:t>
            </a:r>
            <a:r>
              <a:rPr sz="3200" b="1" spc="-130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Backend</a:t>
            </a:r>
            <a:endParaRPr sz="3200" dirty="0">
              <a:latin typeface="Trebuchet MS"/>
              <a:cs typeface="Trebuchet MS"/>
            </a:endParaRPr>
          </a:p>
          <a:p>
            <a:pPr marL="983615" algn="ctr">
              <a:lnSpc>
                <a:spcPct val="100000"/>
              </a:lnSpc>
              <a:spcBef>
                <a:spcPts val="260"/>
              </a:spcBef>
            </a:pPr>
            <a:r>
              <a:rPr sz="3600" b="1" spc="894" dirty="0">
                <a:latin typeface="Arial"/>
                <a:cs typeface="Arial"/>
              </a:rPr>
              <a:t>│</a:t>
            </a:r>
            <a:endParaRPr sz="3600" dirty="0">
              <a:latin typeface="Arial"/>
              <a:cs typeface="Arial"/>
            </a:endParaRPr>
          </a:p>
          <a:p>
            <a:pPr marL="983615" algn="ctr">
              <a:lnSpc>
                <a:spcPct val="100000"/>
              </a:lnSpc>
              <a:spcBef>
                <a:spcPts val="180"/>
              </a:spcBef>
            </a:pPr>
            <a:r>
              <a:rPr sz="3600" b="1" spc="645" dirty="0">
                <a:latin typeface="Arial"/>
                <a:cs typeface="Arial"/>
              </a:rPr>
              <a:t>┌───</a:t>
            </a:r>
            <a:r>
              <a:rPr lang="en-IN" sz="3600" b="1" spc="645" dirty="0">
                <a:latin typeface="Arial"/>
                <a:cs typeface="Arial"/>
              </a:rPr>
              <a:t>─</a:t>
            </a:r>
            <a:r>
              <a:rPr sz="3600" b="1" spc="645" dirty="0">
                <a:latin typeface="Arial"/>
                <a:cs typeface="Arial"/>
              </a:rPr>
              <a:t>┴────┐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69787" y="6732434"/>
            <a:ext cx="2107565" cy="1791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50290">
              <a:lnSpc>
                <a:spcPct val="115300"/>
              </a:lnSpc>
              <a:spcBef>
                <a:spcPts val="100"/>
              </a:spcBef>
            </a:pPr>
            <a:r>
              <a:rPr sz="3600" b="1" spc="-409" dirty="0">
                <a:latin typeface="Arial"/>
                <a:cs typeface="Arial"/>
              </a:rPr>
              <a:t>▼ </a:t>
            </a:r>
            <a:r>
              <a:rPr sz="3200" b="1" spc="75" dirty="0">
                <a:latin typeface="Trebuchet MS"/>
                <a:cs typeface="Trebuchet MS"/>
              </a:rPr>
              <a:t>MongoDB </a:t>
            </a:r>
            <a:r>
              <a:rPr sz="3200" b="1" spc="-10" dirty="0">
                <a:latin typeface="Trebuchet MS"/>
                <a:cs typeface="Trebuchet MS"/>
              </a:rPr>
              <a:t>(Database)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93516" y="6732434"/>
            <a:ext cx="2087880" cy="1791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4465" algn="ctr">
              <a:lnSpc>
                <a:spcPct val="115300"/>
              </a:lnSpc>
              <a:spcBef>
                <a:spcPts val="100"/>
              </a:spcBef>
            </a:pPr>
            <a:r>
              <a:rPr sz="3600" b="1" spc="-409" dirty="0">
                <a:latin typeface="Arial"/>
                <a:cs typeface="Arial"/>
              </a:rPr>
              <a:t>▼ </a:t>
            </a:r>
            <a:r>
              <a:rPr sz="3200" b="1" spc="-10" dirty="0">
                <a:latin typeface="Trebuchet MS"/>
                <a:cs typeface="Trebuchet MS"/>
              </a:rPr>
              <a:t>Razorpay </a:t>
            </a:r>
            <a:r>
              <a:rPr sz="3200" b="1" spc="-65" dirty="0">
                <a:latin typeface="Trebuchet MS"/>
                <a:cs typeface="Trebuchet MS"/>
              </a:rPr>
              <a:t>(Payments)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123" rIns="0" bIns="0" rtlCol="0">
            <a:spAutoFit/>
          </a:bodyPr>
          <a:lstStyle/>
          <a:p>
            <a:pPr marL="652145">
              <a:lnSpc>
                <a:spcPct val="100000"/>
              </a:lnSpc>
              <a:spcBef>
                <a:spcPts val="105"/>
              </a:spcBef>
            </a:pPr>
            <a:r>
              <a:rPr sz="7050" spc="445" dirty="0"/>
              <a:t>Results</a:t>
            </a:r>
            <a:r>
              <a:rPr sz="7050" spc="-25" dirty="0"/>
              <a:t> </a:t>
            </a:r>
            <a:r>
              <a:rPr sz="7050" spc="919" dirty="0"/>
              <a:t>&amp;</a:t>
            </a:r>
            <a:r>
              <a:rPr sz="7050" spc="-20" dirty="0"/>
              <a:t> </a:t>
            </a:r>
            <a:r>
              <a:rPr sz="7050" spc="445" dirty="0"/>
              <a:t>Discussions</a:t>
            </a:r>
            <a:endParaRPr sz="70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D6DDBD-3956-43E8-9724-9D7286194E55}"/>
              </a:ext>
            </a:extLst>
          </p:cNvPr>
          <p:cNvSpPr/>
          <p:nvPr/>
        </p:nvSpPr>
        <p:spPr>
          <a:xfrm>
            <a:off x="2133600" y="1615655"/>
            <a:ext cx="14478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The Study Notion platform was evaluated using real-time techniques through Chrome Developer Tools and controlled testing environments. The observed performance metrics are as follows: </a:t>
            </a:r>
          </a:p>
          <a:p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Course Page Load Time:</a:t>
            </a:r>
            <a:r>
              <a:rPr lang="en-US" sz="3600" dirty="0"/>
              <a:t> 2.5 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First Contentful Paint (FCP): </a:t>
            </a:r>
            <a:r>
              <a:rPr lang="en-US" sz="3600" dirty="0"/>
              <a:t>0.62 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DOM Content Loaded Time:</a:t>
            </a:r>
            <a:r>
              <a:rPr lang="en-US" sz="3600" dirty="0"/>
              <a:t> 0.46 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API Response Time:</a:t>
            </a:r>
            <a:r>
              <a:rPr lang="en-US" sz="3600" dirty="0"/>
              <a:t> 210 ms 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Latency: </a:t>
            </a:r>
            <a:r>
              <a:rPr lang="en-US" sz="3600" dirty="0"/>
              <a:t>65 ms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Throughput: </a:t>
            </a:r>
            <a:r>
              <a:rPr lang="en-US" sz="3600" dirty="0"/>
              <a:t>120-150 requests per minute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Uptime: </a:t>
            </a:r>
            <a:r>
              <a:rPr lang="en-US" sz="3600" dirty="0"/>
              <a:t>99.2% </a:t>
            </a:r>
            <a:endParaRPr lang="en-IN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9697" rIns="0" bIns="0" rtlCol="0">
            <a:spAutoFit/>
          </a:bodyPr>
          <a:lstStyle/>
          <a:p>
            <a:pPr marL="2522855">
              <a:lnSpc>
                <a:spcPct val="100000"/>
              </a:lnSpc>
              <a:spcBef>
                <a:spcPts val="100"/>
              </a:spcBef>
            </a:pPr>
            <a:r>
              <a:rPr spc="730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0834" y="2150883"/>
            <a:ext cx="130151" cy="1301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0834" y="3343936"/>
            <a:ext cx="130151" cy="1301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0834" y="4536989"/>
            <a:ext cx="130151" cy="1301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0834" y="5730043"/>
            <a:ext cx="130151" cy="1301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192324" y="1823391"/>
            <a:ext cx="15486076" cy="479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  <a:tabLst>
                <a:tab pos="973455" algn="l"/>
                <a:tab pos="2683510" algn="l"/>
                <a:tab pos="4373880" algn="l"/>
                <a:tab pos="5570855" algn="l"/>
                <a:tab pos="7067550" algn="l"/>
                <a:tab pos="7462520" algn="l"/>
                <a:tab pos="9062085" algn="l"/>
                <a:tab pos="10565130" algn="l"/>
                <a:tab pos="12308840" algn="l"/>
                <a:tab pos="13338810" algn="l"/>
                <a:tab pos="14495780" algn="l"/>
              </a:tabLst>
            </a:pPr>
            <a:r>
              <a:rPr sz="3400" spc="-20" dirty="0">
                <a:solidFill>
                  <a:srgbClr val="333333"/>
                </a:solidFill>
                <a:latin typeface="Times New Roman"/>
                <a:cs typeface="Times New Roman"/>
              </a:rPr>
              <a:t>This</a:t>
            </a:r>
            <a:r>
              <a:rPr sz="340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lang="en-US" sz="3400" spc="50" dirty="0">
                <a:solidFill>
                  <a:srgbClr val="333333"/>
                </a:solidFill>
                <a:latin typeface="Times New Roman"/>
                <a:cs typeface="Times New Roman"/>
              </a:rPr>
              <a:t>project </a:t>
            </a:r>
            <a:r>
              <a:rPr sz="3400" spc="55" dirty="0">
                <a:solidFill>
                  <a:srgbClr val="333333"/>
                </a:solidFill>
                <a:latin typeface="Times New Roman"/>
                <a:cs typeface="Times New Roman"/>
              </a:rPr>
              <a:t>presents</a:t>
            </a:r>
            <a:r>
              <a:rPr lang="en-US" sz="3400" spc="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Study</a:t>
            </a:r>
            <a:r>
              <a:rPr lang="en-US"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Notion,</a:t>
            </a:r>
            <a:r>
              <a:rPr lang="en-US"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25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lang="en-US" sz="3400" b="1" spc="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scalable</a:t>
            </a:r>
            <a:r>
              <a:rPr lang="en-US"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EdTech</a:t>
            </a:r>
            <a:r>
              <a:rPr lang="en-US"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35" dirty="0">
                <a:solidFill>
                  <a:srgbClr val="333333"/>
                </a:solidFill>
                <a:latin typeface="Times New Roman"/>
                <a:cs typeface="Times New Roman"/>
              </a:rPr>
              <a:t>platform</a:t>
            </a:r>
            <a:r>
              <a:rPr lang="en-US" sz="3400" b="1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spc="50" dirty="0">
                <a:solidFill>
                  <a:srgbClr val="333333"/>
                </a:solidFill>
                <a:latin typeface="Times New Roman"/>
                <a:cs typeface="Times New Roman"/>
              </a:rPr>
              <a:t>built</a:t>
            </a:r>
            <a:r>
              <a:rPr lang="en-US" sz="34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spc="-20" dirty="0">
                <a:solidFill>
                  <a:srgbClr val="333333"/>
                </a:solidFill>
                <a:latin typeface="Times New Roman"/>
                <a:cs typeface="Times New Roman"/>
              </a:rPr>
              <a:t>using</a:t>
            </a:r>
            <a:r>
              <a:rPr lang="en-US" sz="3400" spc="-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spc="70" dirty="0">
                <a:solidFill>
                  <a:srgbClr val="333333"/>
                </a:solidFill>
                <a:latin typeface="Times New Roman"/>
                <a:cs typeface="Times New Roman"/>
              </a:rPr>
              <a:t>the </a:t>
            </a:r>
            <a:r>
              <a:rPr sz="3400" b="1" spc="-150" dirty="0">
                <a:solidFill>
                  <a:srgbClr val="333333"/>
                </a:solidFill>
                <a:latin typeface="Times New Roman"/>
                <a:cs typeface="Times New Roman"/>
              </a:rPr>
              <a:t>MERN</a:t>
            </a:r>
            <a:r>
              <a:rPr sz="3400" b="1" spc="-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stack</a:t>
            </a:r>
            <a:r>
              <a:rPr sz="3400" spc="-10" dirty="0">
                <a:solidFill>
                  <a:srgbClr val="333333"/>
                </a:solidFill>
                <a:latin typeface="Times New Roman"/>
                <a:cs typeface="Times New Roman"/>
              </a:rPr>
              <a:t>.</a:t>
            </a:r>
            <a:endParaRPr sz="3400" dirty="0">
              <a:latin typeface="Times New Roman"/>
              <a:cs typeface="Times New Roman"/>
            </a:endParaRPr>
          </a:p>
          <a:p>
            <a:pPr marL="12700" marR="5080">
              <a:lnSpc>
                <a:spcPct val="115100"/>
              </a:lnSpc>
              <a:tabLst>
                <a:tab pos="1030605" algn="l"/>
                <a:tab pos="2608580" algn="l"/>
                <a:tab pos="4721860" algn="l"/>
                <a:tab pos="6226810" algn="l"/>
                <a:tab pos="8975725" algn="l"/>
                <a:tab pos="10462895" algn="l"/>
                <a:tab pos="13505815" algn="l"/>
              </a:tabLst>
            </a:pPr>
            <a:r>
              <a:rPr sz="3400" spc="-25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lang="en-US" sz="34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333333"/>
                </a:solidFill>
                <a:latin typeface="Times New Roman"/>
                <a:cs typeface="Times New Roman"/>
              </a:rPr>
              <a:t>system</a:t>
            </a:r>
            <a:r>
              <a:rPr lang="en-US" sz="34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spc="40" dirty="0">
                <a:solidFill>
                  <a:srgbClr val="333333"/>
                </a:solidFill>
                <a:latin typeface="Times New Roman"/>
                <a:cs typeface="Times New Roman"/>
              </a:rPr>
              <a:t>integrates</a:t>
            </a:r>
            <a:r>
              <a:rPr lang="en-US" sz="340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course</a:t>
            </a:r>
            <a:r>
              <a:rPr lang="en-US"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35" dirty="0">
                <a:solidFill>
                  <a:srgbClr val="333333"/>
                </a:solidFill>
                <a:latin typeface="Times New Roman"/>
                <a:cs typeface="Times New Roman"/>
              </a:rPr>
              <a:t>management,</a:t>
            </a:r>
            <a:r>
              <a:rPr lang="en-US" sz="3400" b="1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lang="en-US"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s</a:t>
            </a:r>
            <a:r>
              <a:rPr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ecure</a:t>
            </a:r>
            <a:r>
              <a:rPr lang="en-US"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45" dirty="0">
                <a:solidFill>
                  <a:srgbClr val="333333"/>
                </a:solidFill>
                <a:latin typeface="Times New Roman"/>
                <a:cs typeface="Times New Roman"/>
              </a:rPr>
              <a:t>authentication,</a:t>
            </a:r>
            <a:r>
              <a:rPr lang="en-US" sz="3400" b="1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55" dirty="0">
                <a:solidFill>
                  <a:srgbClr val="333333"/>
                </a:solidFill>
                <a:latin typeface="Times New Roman"/>
                <a:cs typeface="Times New Roman"/>
              </a:rPr>
              <a:t>payment </a:t>
            </a:r>
            <a:r>
              <a:rPr sz="3400" b="1" dirty="0">
                <a:solidFill>
                  <a:srgbClr val="333333"/>
                </a:solidFill>
                <a:latin typeface="Times New Roman"/>
                <a:cs typeface="Times New Roman"/>
              </a:rPr>
              <a:t>processing,</a:t>
            </a:r>
            <a:r>
              <a:rPr sz="3400" b="1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105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3400" b="1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dirty="0">
                <a:solidFill>
                  <a:srgbClr val="333333"/>
                </a:solidFill>
                <a:latin typeface="Times New Roman"/>
                <a:cs typeface="Times New Roman"/>
              </a:rPr>
              <a:t>analytics</a:t>
            </a:r>
            <a:r>
              <a:rPr sz="3400" b="1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spc="75" dirty="0">
                <a:solidFill>
                  <a:srgbClr val="333333"/>
                </a:solidFill>
                <a:latin typeface="Times New Roman"/>
                <a:cs typeface="Times New Roman"/>
              </a:rPr>
              <a:t>within</a:t>
            </a:r>
            <a:r>
              <a:rPr sz="34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spc="75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340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dirty="0">
                <a:solidFill>
                  <a:srgbClr val="333333"/>
                </a:solidFill>
                <a:latin typeface="Times New Roman"/>
                <a:cs typeface="Times New Roman"/>
              </a:rPr>
              <a:t>unified</a:t>
            </a:r>
            <a:r>
              <a:rPr sz="3400" b="1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40" dirty="0">
                <a:solidFill>
                  <a:srgbClr val="333333"/>
                </a:solidFill>
                <a:latin typeface="Times New Roman"/>
                <a:cs typeface="Times New Roman"/>
              </a:rPr>
              <a:t>architecture</a:t>
            </a:r>
            <a:r>
              <a:rPr sz="3400" spc="40" dirty="0">
                <a:solidFill>
                  <a:srgbClr val="333333"/>
                </a:solidFill>
                <a:latin typeface="Times New Roman"/>
                <a:cs typeface="Times New Roman"/>
              </a:rPr>
              <a:t>.</a:t>
            </a:r>
            <a:endParaRPr sz="3400" dirty="0">
              <a:latin typeface="Times New Roman"/>
              <a:cs typeface="Times New Roman"/>
            </a:endParaRPr>
          </a:p>
          <a:p>
            <a:pPr marL="12700" marR="5080">
              <a:lnSpc>
                <a:spcPct val="115100"/>
              </a:lnSpc>
              <a:tabLst>
                <a:tab pos="982344" algn="l"/>
                <a:tab pos="2903220" algn="l"/>
                <a:tab pos="5370195" algn="l"/>
                <a:tab pos="7308215" algn="l"/>
                <a:tab pos="8837295" algn="l"/>
                <a:tab pos="11031220" algn="l"/>
                <a:tab pos="12098020" algn="l"/>
                <a:tab pos="14396719" algn="l"/>
              </a:tabLst>
            </a:pPr>
            <a:r>
              <a:rPr sz="3400" spc="-25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lang="en-US" sz="34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333333"/>
                </a:solidFill>
                <a:latin typeface="Times New Roman"/>
                <a:cs typeface="Times New Roman"/>
              </a:rPr>
              <a:t>proposed</a:t>
            </a:r>
            <a:r>
              <a:rPr lang="en-US" sz="34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spc="55" dirty="0">
                <a:solidFill>
                  <a:srgbClr val="333333"/>
                </a:solidFill>
                <a:latin typeface="Times New Roman"/>
                <a:cs typeface="Times New Roman"/>
              </a:rPr>
              <a:t>architecture</a:t>
            </a:r>
            <a:r>
              <a:rPr lang="en-US" sz="3400" spc="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333333"/>
                </a:solidFill>
                <a:latin typeface="Times New Roman"/>
                <a:cs typeface="Times New Roman"/>
              </a:rPr>
              <a:t>improves</a:t>
            </a:r>
            <a:r>
              <a:rPr lang="en-US"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system</a:t>
            </a:r>
            <a:r>
              <a:rPr lang="en-US"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 s</a:t>
            </a:r>
            <a:r>
              <a:rPr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calability,</a:t>
            </a:r>
            <a:r>
              <a:rPr lang="en-US"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60" dirty="0">
                <a:solidFill>
                  <a:srgbClr val="333333"/>
                </a:solidFill>
                <a:latin typeface="Times New Roman"/>
                <a:cs typeface="Times New Roman"/>
              </a:rPr>
              <a:t>user</a:t>
            </a:r>
            <a:r>
              <a:rPr lang="en-US" sz="3400" b="1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experience,</a:t>
            </a:r>
            <a:r>
              <a:rPr lang="en-US"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80" dirty="0">
                <a:solidFill>
                  <a:srgbClr val="333333"/>
                </a:solidFill>
                <a:latin typeface="Times New Roman"/>
                <a:cs typeface="Times New Roman"/>
              </a:rPr>
              <a:t>and </a:t>
            </a:r>
            <a:r>
              <a:rPr sz="3400" b="1" spc="45" dirty="0">
                <a:solidFill>
                  <a:srgbClr val="333333"/>
                </a:solidFill>
                <a:latin typeface="Times New Roman"/>
                <a:cs typeface="Times New Roman"/>
              </a:rPr>
              <a:t>platform</a:t>
            </a:r>
            <a:r>
              <a:rPr sz="3400" b="1" spc="-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efficiency</a:t>
            </a:r>
            <a:r>
              <a:rPr sz="3400" spc="-10" dirty="0">
                <a:solidFill>
                  <a:srgbClr val="333333"/>
                </a:solidFill>
                <a:latin typeface="Times New Roman"/>
                <a:cs typeface="Times New Roman"/>
              </a:rPr>
              <a:t>.</a:t>
            </a:r>
            <a:endParaRPr sz="3400" dirty="0">
              <a:latin typeface="Times New Roman"/>
              <a:cs typeface="Times New Roman"/>
            </a:endParaRPr>
          </a:p>
          <a:p>
            <a:pPr marL="12700" marR="5080">
              <a:lnSpc>
                <a:spcPct val="115100"/>
              </a:lnSpc>
            </a:pPr>
            <a:r>
              <a:rPr sz="34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3400" spc="2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spc="55" dirty="0">
                <a:solidFill>
                  <a:srgbClr val="333333"/>
                </a:solidFill>
                <a:latin typeface="Times New Roman"/>
                <a:cs typeface="Times New Roman"/>
              </a:rPr>
              <a:t>implementation</a:t>
            </a:r>
            <a:r>
              <a:rPr sz="3400" spc="2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spc="65" dirty="0">
                <a:solidFill>
                  <a:srgbClr val="333333"/>
                </a:solidFill>
                <a:latin typeface="Times New Roman"/>
                <a:cs typeface="Times New Roman"/>
              </a:rPr>
              <a:t>demonstrates</a:t>
            </a:r>
            <a:r>
              <a:rPr sz="3400" spc="25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spc="95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3400" spc="2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333333"/>
                </a:solidFill>
                <a:latin typeface="Times New Roman"/>
                <a:cs typeface="Times New Roman"/>
              </a:rPr>
              <a:t>effectiveness</a:t>
            </a:r>
            <a:r>
              <a:rPr sz="3400" spc="25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3400" spc="2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spc="75" dirty="0">
                <a:solidFill>
                  <a:srgbClr val="333333"/>
                </a:solidFill>
                <a:latin typeface="Times New Roman"/>
                <a:cs typeface="Times New Roman"/>
              </a:rPr>
              <a:t>modern</a:t>
            </a:r>
            <a:r>
              <a:rPr sz="3400" spc="2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333333"/>
                </a:solidFill>
                <a:latin typeface="Times New Roman"/>
                <a:cs typeface="Times New Roman"/>
              </a:rPr>
              <a:t>web</a:t>
            </a:r>
            <a:r>
              <a:rPr sz="3400" spc="2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333333"/>
                </a:solidFill>
                <a:latin typeface="Times New Roman"/>
                <a:cs typeface="Times New Roman"/>
              </a:rPr>
              <a:t>technologies</a:t>
            </a:r>
            <a:r>
              <a:rPr sz="3400" spc="254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spc="60" dirty="0">
                <a:solidFill>
                  <a:srgbClr val="333333"/>
                </a:solidFill>
                <a:latin typeface="Times New Roman"/>
                <a:cs typeface="Times New Roman"/>
              </a:rPr>
              <a:t>in </a:t>
            </a:r>
            <a:r>
              <a:rPr sz="3400" spc="-10" dirty="0">
                <a:solidFill>
                  <a:srgbClr val="333333"/>
                </a:solidFill>
                <a:latin typeface="Times New Roman"/>
                <a:cs typeface="Times New Roman"/>
              </a:rPr>
              <a:t>developing</a:t>
            </a:r>
            <a:r>
              <a:rPr sz="34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333333"/>
                </a:solidFill>
                <a:latin typeface="Times New Roman"/>
                <a:cs typeface="Times New Roman"/>
              </a:rPr>
              <a:t>advanced</a:t>
            </a:r>
            <a:r>
              <a:rPr sz="3400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333333"/>
                </a:solidFill>
                <a:latin typeface="Times New Roman"/>
                <a:cs typeface="Times New Roman"/>
              </a:rPr>
              <a:t>online</a:t>
            </a:r>
            <a:r>
              <a:rPr sz="3400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spc="50" dirty="0">
                <a:solidFill>
                  <a:srgbClr val="333333"/>
                </a:solidFill>
                <a:latin typeface="Times New Roman"/>
                <a:cs typeface="Times New Roman"/>
              </a:rPr>
              <a:t>learning</a:t>
            </a:r>
            <a:r>
              <a:rPr sz="3400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333333"/>
                </a:solidFill>
                <a:latin typeface="Times New Roman"/>
                <a:cs typeface="Times New Roman"/>
              </a:rPr>
              <a:t>systems.</a:t>
            </a:r>
            <a:endParaRPr sz="3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226" rIns="0" bIns="0" rtlCol="0">
            <a:spAutoFit/>
          </a:bodyPr>
          <a:lstStyle/>
          <a:p>
            <a:pPr marL="2273935">
              <a:lnSpc>
                <a:spcPct val="100000"/>
              </a:lnSpc>
              <a:spcBef>
                <a:spcPts val="125"/>
              </a:spcBef>
            </a:pPr>
            <a:r>
              <a:rPr sz="9000" spc="620" dirty="0"/>
              <a:t>Future</a:t>
            </a:r>
            <a:r>
              <a:rPr sz="9000" spc="-20" dirty="0"/>
              <a:t> </a:t>
            </a:r>
            <a:r>
              <a:rPr sz="9000" spc="490" dirty="0"/>
              <a:t>Scope</a:t>
            </a:r>
            <a:endParaRPr sz="9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278" y="2279275"/>
            <a:ext cx="133973" cy="1339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278" y="2926814"/>
            <a:ext cx="133973" cy="1339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278" y="3574354"/>
            <a:ext cx="133973" cy="1339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5278" y="4221893"/>
            <a:ext cx="133973" cy="1339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5278" y="5516972"/>
            <a:ext cx="133973" cy="13397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807456" y="1913109"/>
            <a:ext cx="15392400" cy="4520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90220">
              <a:lnSpc>
                <a:spcPct val="116399"/>
              </a:lnSpc>
              <a:spcBef>
                <a:spcPts val="95"/>
              </a:spcBef>
            </a:pPr>
            <a:r>
              <a:rPr spc="70" dirty="0"/>
              <a:t>Integration</a:t>
            </a:r>
            <a:r>
              <a:rPr spc="-25" dirty="0"/>
              <a:t> </a:t>
            </a:r>
            <a:r>
              <a:rPr spc="-35" dirty="0"/>
              <a:t>of</a:t>
            </a:r>
            <a:r>
              <a:rPr spc="-10" dirty="0"/>
              <a:t> Artificial </a:t>
            </a:r>
            <a:r>
              <a:rPr dirty="0"/>
              <a:t>Intelligence</a:t>
            </a:r>
            <a:r>
              <a:rPr spc="-15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personalized</a:t>
            </a:r>
            <a:r>
              <a:rPr spc="-10" dirty="0"/>
              <a:t> </a:t>
            </a:r>
            <a:r>
              <a:rPr dirty="0"/>
              <a:t>course</a:t>
            </a:r>
            <a:r>
              <a:rPr spc="-10" dirty="0"/>
              <a:t> </a:t>
            </a:r>
            <a:r>
              <a:rPr spc="35" dirty="0"/>
              <a:t>recommendations. </a:t>
            </a:r>
            <a:r>
              <a:rPr spc="-10" dirty="0"/>
              <a:t>Development</a:t>
            </a:r>
            <a:r>
              <a:rPr spc="-50" dirty="0"/>
              <a:t> </a:t>
            </a:r>
            <a:r>
              <a:rPr spc="-35" dirty="0"/>
              <a:t>of</a:t>
            </a:r>
            <a:r>
              <a:rPr spc="-50" dirty="0"/>
              <a:t> </a:t>
            </a:r>
            <a:r>
              <a:rPr spc="95" dirty="0"/>
              <a:t>a</a:t>
            </a:r>
            <a:r>
              <a:rPr spc="-50" dirty="0"/>
              <a:t> </a:t>
            </a:r>
            <a:r>
              <a:rPr dirty="0"/>
              <a:t>mobile</a:t>
            </a:r>
            <a:r>
              <a:rPr spc="-45" dirty="0"/>
              <a:t> </a:t>
            </a:r>
            <a:r>
              <a:rPr dirty="0"/>
              <a:t>application</a:t>
            </a:r>
            <a:r>
              <a:rPr spc="-50" dirty="0"/>
              <a:t> </a:t>
            </a:r>
            <a:r>
              <a:rPr dirty="0"/>
              <a:t>version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Android</a:t>
            </a:r>
            <a:r>
              <a:rPr spc="-50" dirty="0"/>
              <a:t> </a:t>
            </a:r>
            <a:r>
              <a:rPr spc="125" dirty="0"/>
              <a:t>and</a:t>
            </a:r>
            <a:r>
              <a:rPr spc="-50" dirty="0"/>
              <a:t> </a:t>
            </a:r>
            <a:r>
              <a:rPr spc="-275" dirty="0"/>
              <a:t>iOS</a:t>
            </a:r>
            <a:r>
              <a:rPr spc="-50" dirty="0"/>
              <a:t> </a:t>
            </a:r>
            <a:r>
              <a:rPr spc="-10" dirty="0"/>
              <a:t>platforms.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/>
              <a:t>Adoption</a:t>
            </a:r>
            <a:r>
              <a:rPr spc="-125" dirty="0"/>
              <a:t> </a:t>
            </a:r>
            <a:r>
              <a:rPr spc="-35" dirty="0"/>
              <a:t>of</a:t>
            </a:r>
            <a:r>
              <a:rPr spc="-125" dirty="0"/>
              <a:t> </a:t>
            </a:r>
            <a:r>
              <a:rPr dirty="0"/>
              <a:t>microservices</a:t>
            </a:r>
            <a:r>
              <a:rPr spc="-120" dirty="0"/>
              <a:t> </a:t>
            </a:r>
            <a:r>
              <a:rPr spc="70" dirty="0"/>
              <a:t>architecture</a:t>
            </a:r>
            <a:r>
              <a:rPr spc="-125" dirty="0"/>
              <a:t> </a:t>
            </a:r>
            <a:r>
              <a:rPr dirty="0"/>
              <a:t>for</a:t>
            </a:r>
            <a:r>
              <a:rPr spc="-120" dirty="0"/>
              <a:t> </a:t>
            </a:r>
            <a:r>
              <a:rPr spc="80" dirty="0"/>
              <a:t>enhanced</a:t>
            </a:r>
            <a:r>
              <a:rPr spc="-125" dirty="0"/>
              <a:t> </a:t>
            </a:r>
            <a:r>
              <a:rPr spc="-10" dirty="0"/>
              <a:t>scalability.</a:t>
            </a:r>
          </a:p>
          <a:p>
            <a:pPr marL="12700" marR="5080">
              <a:lnSpc>
                <a:spcPct val="116399"/>
              </a:lnSpc>
              <a:tabLst>
                <a:tab pos="3346450" algn="l"/>
                <a:tab pos="3961129" algn="l"/>
                <a:tab pos="5989320" algn="l"/>
                <a:tab pos="7831455" algn="l"/>
                <a:tab pos="9774555" algn="l"/>
                <a:tab pos="10741025" algn="l"/>
                <a:tab pos="13424535" algn="l"/>
              </a:tabLst>
            </a:pPr>
            <a:r>
              <a:rPr spc="65" dirty="0"/>
              <a:t>Implementation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advanced</a:t>
            </a:r>
            <a:r>
              <a:rPr dirty="0"/>
              <a:t>	</a:t>
            </a:r>
            <a:r>
              <a:rPr spc="55" dirty="0"/>
              <a:t>learning</a:t>
            </a:r>
            <a:r>
              <a:rPr dirty="0"/>
              <a:t>	</a:t>
            </a:r>
            <a:r>
              <a:rPr spc="-10" dirty="0"/>
              <a:t>analytics</a:t>
            </a:r>
            <a:r>
              <a:rPr dirty="0"/>
              <a:t>	</a:t>
            </a:r>
            <a:r>
              <a:rPr spc="100" dirty="0"/>
              <a:t>and</a:t>
            </a:r>
            <a:r>
              <a:rPr dirty="0"/>
              <a:t>	</a:t>
            </a:r>
            <a:r>
              <a:rPr spc="45" dirty="0"/>
              <a:t>performance</a:t>
            </a:r>
            <a:r>
              <a:rPr dirty="0"/>
              <a:t>	</a:t>
            </a:r>
            <a:r>
              <a:rPr spc="35" dirty="0"/>
              <a:t>prediction </a:t>
            </a:r>
            <a:r>
              <a:rPr spc="-10" dirty="0"/>
              <a:t>models.</a:t>
            </a:r>
          </a:p>
          <a:p>
            <a:pPr marL="12700" marR="5080">
              <a:lnSpc>
                <a:spcPct val="116399"/>
              </a:lnSpc>
            </a:pPr>
            <a:r>
              <a:rPr spc="70" dirty="0"/>
              <a:t>Integration</a:t>
            </a:r>
            <a:r>
              <a:rPr spc="320" dirty="0"/>
              <a:t> </a:t>
            </a:r>
            <a:r>
              <a:rPr dirty="0"/>
              <a:t>of</a:t>
            </a:r>
            <a:r>
              <a:rPr spc="320" dirty="0"/>
              <a:t> </a:t>
            </a:r>
            <a:r>
              <a:rPr dirty="0"/>
              <a:t>live</a:t>
            </a:r>
            <a:r>
              <a:rPr spc="320" dirty="0"/>
              <a:t> </a:t>
            </a:r>
            <a:r>
              <a:rPr dirty="0"/>
              <a:t>interactive</a:t>
            </a:r>
            <a:r>
              <a:rPr spc="320" dirty="0"/>
              <a:t> </a:t>
            </a:r>
            <a:r>
              <a:rPr spc="65" dirty="0"/>
              <a:t>learning</a:t>
            </a:r>
            <a:r>
              <a:rPr spc="325" dirty="0"/>
              <a:t> </a:t>
            </a:r>
            <a:r>
              <a:rPr spc="50" dirty="0"/>
              <a:t>features</a:t>
            </a:r>
            <a:r>
              <a:rPr spc="320" dirty="0"/>
              <a:t> </a:t>
            </a:r>
            <a:r>
              <a:rPr spc="60" dirty="0"/>
              <a:t>such</a:t>
            </a:r>
            <a:r>
              <a:rPr spc="320" dirty="0"/>
              <a:t> </a:t>
            </a:r>
            <a:r>
              <a:rPr dirty="0"/>
              <a:t>as</a:t>
            </a:r>
            <a:r>
              <a:rPr spc="320" dirty="0"/>
              <a:t> </a:t>
            </a:r>
            <a:r>
              <a:rPr dirty="0"/>
              <a:t>video</a:t>
            </a:r>
            <a:r>
              <a:rPr spc="320" dirty="0"/>
              <a:t> </a:t>
            </a:r>
            <a:r>
              <a:rPr dirty="0"/>
              <a:t>conferencing</a:t>
            </a:r>
            <a:r>
              <a:rPr spc="320" dirty="0"/>
              <a:t> </a:t>
            </a:r>
            <a:r>
              <a:rPr spc="100" dirty="0"/>
              <a:t>and </a:t>
            </a:r>
            <a:r>
              <a:rPr dirty="0"/>
              <a:t>real-</a:t>
            </a:r>
            <a:r>
              <a:rPr spc="70" dirty="0"/>
              <a:t>time</a:t>
            </a:r>
            <a:r>
              <a:rPr spc="185" dirty="0"/>
              <a:t> </a:t>
            </a:r>
            <a:r>
              <a:rPr dirty="0"/>
              <a:t>collaboration</a:t>
            </a:r>
            <a:r>
              <a:rPr spc="200" dirty="0"/>
              <a:t> </a:t>
            </a:r>
            <a:r>
              <a:rPr spc="-10" dirty="0"/>
              <a:t>tools.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6852" rIns="0" bIns="0" rtlCol="0">
            <a:spAutoFit/>
          </a:bodyPr>
          <a:lstStyle/>
          <a:p>
            <a:pPr marL="2604135">
              <a:lnSpc>
                <a:spcPct val="100000"/>
              </a:lnSpc>
              <a:spcBef>
                <a:spcPts val="100"/>
              </a:spcBef>
            </a:pPr>
            <a:r>
              <a:rPr spc="535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8018" y="1975427"/>
            <a:ext cx="16416019" cy="1184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1465" marR="5080" indent="-279400">
              <a:lnSpc>
                <a:spcPct val="117000"/>
              </a:lnSpc>
              <a:spcBef>
                <a:spcPts val="90"/>
              </a:spcBef>
            </a:pPr>
            <a:r>
              <a:rPr sz="3250" spc="-290" dirty="0">
                <a:solidFill>
                  <a:srgbClr val="333333"/>
                </a:solidFill>
                <a:latin typeface="Times New Roman"/>
                <a:cs typeface="Times New Roman"/>
              </a:rPr>
              <a:t>1.</a:t>
            </a:r>
            <a:r>
              <a:rPr sz="3250" spc="-459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275" dirty="0">
                <a:solidFill>
                  <a:srgbClr val="333333"/>
                </a:solidFill>
                <a:latin typeface="Times New Roman"/>
                <a:cs typeface="Times New Roman"/>
              </a:rPr>
              <a:t>V.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Sharma,</a:t>
            </a:r>
            <a:r>
              <a:rPr sz="325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275" dirty="0">
                <a:solidFill>
                  <a:srgbClr val="333333"/>
                </a:solidFill>
                <a:latin typeface="Times New Roman"/>
                <a:cs typeface="Times New Roman"/>
              </a:rPr>
              <a:t>A.</a:t>
            </a:r>
            <a:r>
              <a:rPr sz="325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25" dirty="0">
                <a:solidFill>
                  <a:srgbClr val="333333"/>
                </a:solidFill>
                <a:latin typeface="Times New Roman"/>
                <a:cs typeface="Times New Roman"/>
              </a:rPr>
              <a:t>Gupta,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“Modern</a:t>
            </a:r>
            <a:r>
              <a:rPr sz="325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Web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Technologies</a:t>
            </a:r>
            <a:r>
              <a:rPr sz="325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 Scalable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125" dirty="0">
                <a:solidFill>
                  <a:srgbClr val="333333"/>
                </a:solidFill>
                <a:latin typeface="Times New Roman"/>
                <a:cs typeface="Times New Roman"/>
              </a:rPr>
              <a:t>E-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Learning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Platforms,”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Journal</a:t>
            </a:r>
            <a:r>
              <a:rPr sz="325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25" dirty="0">
                <a:solidFill>
                  <a:srgbClr val="333333"/>
                </a:solidFill>
                <a:latin typeface="Times New Roman"/>
                <a:cs typeface="Times New Roman"/>
              </a:rPr>
              <a:t>of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Web</a:t>
            </a:r>
            <a:r>
              <a:rPr sz="3250" spc="-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Engineering,</a:t>
            </a:r>
            <a:r>
              <a:rPr sz="3250" spc="-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2022.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68747" y="3212200"/>
            <a:ext cx="3145155" cy="5270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485390" algn="l"/>
              </a:tabLst>
            </a:pP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Architecture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95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3707" y="3134080"/>
            <a:ext cx="13025119" cy="292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5440" marR="5080" indent="-325120">
              <a:lnSpc>
                <a:spcPct val="117000"/>
              </a:lnSpc>
              <a:spcBef>
                <a:spcPts val="90"/>
              </a:spcBef>
              <a:tabLst>
                <a:tab pos="946785" algn="l"/>
                <a:tab pos="2550160" algn="l"/>
                <a:tab pos="3218180" algn="l"/>
                <a:tab pos="4481195" algn="l"/>
                <a:tab pos="7079615" algn="l"/>
                <a:tab pos="8933815" algn="l"/>
                <a:tab pos="11523980" algn="l"/>
              </a:tabLst>
            </a:pPr>
            <a:r>
              <a:rPr sz="3250" spc="-114" dirty="0">
                <a:solidFill>
                  <a:srgbClr val="333333"/>
                </a:solidFill>
                <a:latin typeface="Times New Roman"/>
                <a:cs typeface="Times New Roman"/>
              </a:rPr>
              <a:t>2.</a:t>
            </a:r>
            <a:r>
              <a:rPr sz="3250" spc="-4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25" dirty="0">
                <a:solidFill>
                  <a:srgbClr val="333333"/>
                </a:solidFill>
                <a:latin typeface="Times New Roman"/>
                <a:cs typeface="Times New Roman"/>
              </a:rPr>
              <a:t>S.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Kumar,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25" dirty="0">
                <a:solidFill>
                  <a:srgbClr val="333333"/>
                </a:solidFill>
                <a:latin typeface="Times New Roman"/>
                <a:cs typeface="Times New Roman"/>
              </a:rPr>
              <a:t>R.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Patel,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85" dirty="0">
                <a:solidFill>
                  <a:srgbClr val="333333"/>
                </a:solidFill>
                <a:latin typeface="Times New Roman"/>
                <a:cs typeface="Times New Roman"/>
              </a:rPr>
              <a:t>“Cloud-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Based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Learning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60" dirty="0">
                <a:solidFill>
                  <a:srgbClr val="333333"/>
                </a:solidFill>
                <a:latin typeface="Times New Roman"/>
                <a:cs typeface="Times New Roman"/>
              </a:rPr>
              <a:t>Management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	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Systems: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Implementation,”</a:t>
            </a:r>
            <a:r>
              <a:rPr sz="3250" spc="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95" dirty="0">
                <a:solidFill>
                  <a:srgbClr val="333333"/>
                </a:solidFill>
                <a:latin typeface="Times New Roman"/>
                <a:cs typeface="Times New Roman"/>
              </a:rPr>
              <a:t>International</a:t>
            </a:r>
            <a:r>
              <a:rPr sz="325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Journal</a:t>
            </a:r>
            <a:r>
              <a:rPr sz="325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3250" spc="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Computer</a:t>
            </a:r>
            <a:r>
              <a:rPr sz="3250" spc="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Applications,</a:t>
            </a:r>
            <a:r>
              <a:rPr sz="3250" spc="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2021.</a:t>
            </a:r>
            <a:endParaRPr sz="3250">
              <a:latin typeface="Times New Roman"/>
              <a:cs typeface="Times New Roman"/>
            </a:endParaRPr>
          </a:p>
          <a:p>
            <a:pPr marL="344805" indent="-322580">
              <a:lnSpc>
                <a:spcPct val="100000"/>
              </a:lnSpc>
              <a:spcBef>
                <a:spcPts val="660"/>
              </a:spcBef>
              <a:buAutoNum type="arabicPeriod" startAt="3"/>
              <a:tabLst>
                <a:tab pos="344805" algn="l"/>
              </a:tabLst>
            </a:pPr>
            <a:r>
              <a:rPr sz="3250" spc="-229" dirty="0">
                <a:solidFill>
                  <a:srgbClr val="333333"/>
                </a:solidFill>
                <a:latin typeface="Times New Roman"/>
                <a:cs typeface="Times New Roman"/>
              </a:rPr>
              <a:t>D.</a:t>
            </a:r>
            <a:r>
              <a:rPr sz="3250" spc="-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Flanagan,</a:t>
            </a:r>
            <a:r>
              <a:rPr sz="3250" spc="-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JavaScript:</a:t>
            </a:r>
            <a:r>
              <a:rPr sz="3250" spc="-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3250" spc="-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Definitive</a:t>
            </a:r>
            <a:r>
              <a:rPr sz="3250" spc="-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85" dirty="0">
                <a:solidFill>
                  <a:srgbClr val="333333"/>
                </a:solidFill>
                <a:latin typeface="Times New Roman"/>
                <a:cs typeface="Times New Roman"/>
              </a:rPr>
              <a:t>Guide,</a:t>
            </a:r>
            <a:r>
              <a:rPr sz="3250" spc="-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135" dirty="0">
                <a:solidFill>
                  <a:srgbClr val="333333"/>
                </a:solidFill>
                <a:latin typeface="Times New Roman"/>
                <a:cs typeface="Times New Roman"/>
              </a:rPr>
              <a:t>O’Reilly</a:t>
            </a:r>
            <a:r>
              <a:rPr sz="3250" spc="-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Media,</a:t>
            </a:r>
            <a:r>
              <a:rPr sz="3250" spc="-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2020.</a:t>
            </a:r>
            <a:endParaRPr sz="3250">
              <a:latin typeface="Times New Roman"/>
              <a:cs typeface="Times New Roman"/>
            </a:endParaRPr>
          </a:p>
          <a:p>
            <a:pPr marL="345440" indent="-332740">
              <a:lnSpc>
                <a:spcPct val="100000"/>
              </a:lnSpc>
              <a:spcBef>
                <a:spcPts val="665"/>
              </a:spcBef>
              <a:buAutoNum type="arabicPeriod" startAt="3"/>
              <a:tabLst>
                <a:tab pos="345440" algn="l"/>
              </a:tabLst>
            </a:pPr>
            <a:r>
              <a:rPr sz="3250" spc="-85" dirty="0">
                <a:solidFill>
                  <a:srgbClr val="333333"/>
                </a:solidFill>
                <a:latin typeface="Times New Roman"/>
                <a:cs typeface="Times New Roman"/>
              </a:rPr>
              <a:t>MongoDB</a:t>
            </a:r>
            <a:r>
              <a:rPr sz="325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Inc.,</a:t>
            </a:r>
            <a:r>
              <a:rPr sz="325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105" dirty="0">
                <a:solidFill>
                  <a:srgbClr val="333333"/>
                </a:solidFill>
                <a:latin typeface="Times New Roman"/>
                <a:cs typeface="Times New Roman"/>
              </a:rPr>
              <a:t>“MongoDB</a:t>
            </a:r>
            <a:r>
              <a:rPr sz="325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Architecture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12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20" dirty="0">
                <a:solidFill>
                  <a:srgbClr val="333333"/>
                </a:solidFill>
                <a:latin typeface="Times New Roman"/>
                <a:cs typeface="Times New Roman"/>
              </a:rPr>
              <a:t>Applications,”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 2023.</a:t>
            </a:r>
            <a:endParaRPr sz="3250">
              <a:latin typeface="Times New Roman"/>
              <a:cs typeface="Times New Roman"/>
            </a:endParaRPr>
          </a:p>
          <a:p>
            <a:pPr marL="345440" indent="-325755">
              <a:lnSpc>
                <a:spcPct val="100000"/>
              </a:lnSpc>
              <a:spcBef>
                <a:spcPts val="660"/>
              </a:spcBef>
              <a:buAutoNum type="arabicPeriod" startAt="3"/>
              <a:tabLst>
                <a:tab pos="345440" algn="l"/>
              </a:tabLst>
            </a:pPr>
            <a:r>
              <a:rPr sz="3250" spc="-30" dirty="0">
                <a:solidFill>
                  <a:srgbClr val="333333"/>
                </a:solidFill>
                <a:latin typeface="Times New Roman"/>
                <a:cs typeface="Times New Roman"/>
              </a:rPr>
              <a:t>Node.js</a:t>
            </a:r>
            <a:r>
              <a:rPr sz="3250" spc="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Foundation,</a:t>
            </a:r>
            <a:r>
              <a:rPr sz="3250" spc="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55" dirty="0">
                <a:solidFill>
                  <a:srgbClr val="333333"/>
                </a:solidFill>
                <a:latin typeface="Times New Roman"/>
                <a:cs typeface="Times New Roman"/>
              </a:rPr>
              <a:t>“Node.js</a:t>
            </a:r>
            <a:r>
              <a:rPr sz="3250" spc="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solidFill>
                  <a:srgbClr val="333333"/>
                </a:solidFill>
                <a:latin typeface="Times New Roman"/>
                <a:cs typeface="Times New Roman"/>
              </a:rPr>
              <a:t>Documentation,”</a:t>
            </a:r>
            <a:r>
              <a:rPr sz="3250" spc="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Times New Roman"/>
                <a:cs typeface="Times New Roman"/>
              </a:rPr>
              <a:t>2024.</a:t>
            </a:r>
            <a:endParaRPr sz="3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425</Words>
  <Application>Microsoft Office PowerPoint</Application>
  <PresentationFormat>Custom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Trebuchet MS</vt:lpstr>
      <vt:lpstr>Verdana</vt:lpstr>
      <vt:lpstr>Office Theme</vt:lpstr>
      <vt:lpstr>Study Notion: A Comprehensive MERN Stack-Based EdTech Platform for Modern Online Education   SDG: Quality Education  Industry, Innovation &amp; Infrastructure   Project Outcome: Research Paper   </vt:lpstr>
      <vt:lpstr>Overview</vt:lpstr>
      <vt:lpstr>Introduction</vt:lpstr>
      <vt:lpstr>Related Works</vt:lpstr>
      <vt:lpstr>Problem</vt:lpstr>
      <vt:lpstr>Proposed Methodology</vt:lpstr>
      <vt:lpstr>System Architecture</vt:lpstr>
      <vt:lpstr>Results &amp; Discussions</vt:lpstr>
      <vt:lpstr>Conclusion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Blue Simple Geometric Research Project Presentation</dc:title>
  <dc:creator>Mradityapratap1</dc:creator>
  <cp:keywords>DAHDhHUqEsY,BAHDhF1ZsrQ,0</cp:keywords>
  <cp:lastModifiedBy>Shirine Sharma</cp:lastModifiedBy>
  <cp:revision>9</cp:revision>
  <dcterms:created xsi:type="dcterms:W3CDTF">2026-04-11T04:16:01Z</dcterms:created>
  <dcterms:modified xsi:type="dcterms:W3CDTF">2026-05-06T07:12:14Z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2026-03-10T00:00:00Z</vt:filetime>
  </property>
  <property fmtid="{D5CDD505-2E9C-101B-9397-08002B2CF9AE}" pid="3" name="Creator">
    <vt:lpwstr>Canva</vt:lpwstr>
  </property>
  <property fmtid="{D5CDD505-2E9C-101B-9397-08002B2CF9AE}" pid="4" name="LastSaved">
    <vt:filetime>2026-04-11T00:00:00Z</vt:filetime>
  </property>
  <property fmtid="{D5CDD505-2E9C-101B-9397-08002B2CF9AE}" pid="5" name="Producer">
    <vt:lpwstr>Canva</vt:lpwstr>
  </property>
</Properties>
</file>